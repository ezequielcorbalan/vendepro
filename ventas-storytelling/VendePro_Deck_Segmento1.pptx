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2.png"/><Relationship Id="rId4" Type="http://schemas.openxmlformats.org/officeDocument/2006/relationships/image" Target="../media/image-2-2.png"/><Relationship Id="rId5" Type="http://schemas.openxmlformats.org/officeDocument/2006/relationships/image" Target="../media/image-2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2.png"/><Relationship Id="rId4" Type="http://schemas.openxmlformats.org/officeDocument/2006/relationships/image" Target="../media/image-5-2.png"/><Relationship Id="rId5" Type="http://schemas.openxmlformats.org/officeDocument/2006/relationships/image" Target="../media/image-5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2.png"/><Relationship Id="rId4" Type="http://schemas.openxmlformats.org/officeDocument/2006/relationships/image" Target="../media/image-6-2.png"/><Relationship Id="rId5" Type="http://schemas.openxmlformats.org/officeDocument/2006/relationships/image" Target="../media/image-6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2.png"/><Relationship Id="rId4" Type="http://schemas.openxmlformats.org/officeDocument/2006/relationships/image" Target="../media/image-8-2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2.png"/><Relationship Id="rId4" Type="http://schemas.openxmlformats.org/officeDocument/2006/relationships/image" Target="../media/image-9-2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2.png"/><Relationship Id="rId4" Type="http://schemas.openxmlformats.org/officeDocument/2006/relationships/image" Target="../media/image-11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2.png"/><Relationship Id="rId4" Type="http://schemas.openxmlformats.org/officeDocument/2006/relationships/image" Target="../media/image-12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34a532c3-29f6-5221-b4ba-d8e6b49c9601/scratchpad/vendepro/assets/grad_blob_circle.png">    </p:cNvPr>
          <p:cNvPicPr>
            <a:picLocks noChangeAspect="1"/>
          </p:cNvPicPr>
          <p:nvPr/>
        </p:nvPicPr>
        <p:blipFill>
          <a:blip r:embed="rId1">
            <a:alphaModFix amt="22000"/>
          </a:blip>
          <a:stretch>
            <a:fillRect/>
          </a:stretch>
        </p:blipFill>
        <p:spPr>
          <a:xfrm>
            <a:off x="7985455" y="2651760"/>
            <a:ext cx="5669280" cy="5669280"/>
          </a:xfrm>
          <a:prstGeom prst="rect">
            <a:avLst/>
          </a:prstGeom>
        </p:spPr>
      </p:pic>
      <p:pic>
        <p:nvPicPr>
          <p:cNvPr id="3" name="Image 1" descr="/tmp/claude-0/-home-claude/34a532c3-29f6-5221-b4ba-d8e6b49c9601/scratchpad/vendepro/assets/logo_vendepro_l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051560"/>
            <a:ext cx="2468880" cy="488694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58368" y="2331720"/>
            <a:ext cx="9692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4200" b="1" dirty="0">
                <a:solidFill>
                  <a:srgbClr val="272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Todo tu negocio inmobiliario, en un solo lugar</a:t>
            </a:r>
            <a:endParaRPr lang="en-US" sz="4200" dirty="0"/>
          </a:p>
        </p:txBody>
      </p:sp>
      <p:sp>
        <p:nvSpPr>
          <p:cNvPr id="5" name="Text 1"/>
          <p:cNvSpPr txBox="1"/>
          <p:nvPr/>
        </p:nvSpPr>
        <p:spPr>
          <a:xfrm>
            <a:off x="658368" y="416052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900" dirty="0">
                <a:solidFill>
                  <a:srgbClr val="52525B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Gestioná leads, tasaciones, propiedades y reservas — sin perder ningún detalle, empezando gratis.</a:t>
            </a:r>
            <a:endParaRPr lang="en-US" sz="1900" dirty="0"/>
          </a:p>
        </p:txBody>
      </p:sp>
      <p:sp>
        <p:nvSpPr>
          <p:cNvPr id="6" name="Text 2"/>
          <p:cNvSpPr txBox="1"/>
          <p:nvPr/>
        </p:nvSpPr>
        <p:spPr>
          <a:xfrm>
            <a:off x="10436047" y="643737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1A1AA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01 / 13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34a532c3-29f6-5221-b4ba-d8e6b49c9601/scratchpad/vendepro/assets/grad_tab_vertic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612648"/>
            <a:ext cx="82296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96112" y="512064"/>
            <a:ext cx="106372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272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¿Te suena esto?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658368" y="643737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100" kern="0" dirty="0">
                <a:solidFill>
                  <a:srgbClr val="A1A1AA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VendéPro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10436047" y="643737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1A1AA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02 / 13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658368" y="1965960"/>
            <a:ext cx="5291176" cy="1965960"/>
          </a:xfrm>
          <a:prstGeom prst="roundRect">
            <a:avLst>
              <a:gd name="adj" fmla="val 6512"/>
            </a:avLst>
          </a:prstGeom>
          <a:solidFill>
            <a:srgbClr val="F6F6F7"/>
          </a:solidFill>
          <a:ln/>
          <a:effectLst>
            <a:outerShdw sx="100000" sy="100000" kx="0" ky="0" algn="bl" rotWithShape="0" blurRad="127000" dist="38100" dir="5400000">
              <a:srgbClr val="27272A">
                <a:alpha val="12000"/>
              </a:srgbClr>
            </a:outerShdw>
          </a:effectLst>
        </p:spPr>
      </p:sp>
      <p:pic>
        <p:nvPicPr>
          <p:cNvPr id="7" name="Image 1" descr="/tmp/claude-0/-home-claude/34a532c3-29f6-5221-b4ba-d8e6b49c9601/scratchpad/vendepro/assets/icon_check_gra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2258568"/>
            <a:ext cx="384048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50976" y="2834640"/>
            <a:ext cx="4705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550" dirty="0">
                <a:solidFill>
                  <a:srgbClr val="272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 lead te entra por Instagram y en dos días ya no te acordás si lo contactaste</a:t>
            </a:r>
            <a:endParaRPr lang="en-US" sz="1550" dirty="0"/>
          </a:p>
        </p:txBody>
      </p:sp>
      <p:sp>
        <p:nvSpPr>
          <p:cNvPr id="9" name="Shape 5"/>
          <p:cNvSpPr/>
          <p:nvPr/>
        </p:nvSpPr>
        <p:spPr>
          <a:xfrm>
            <a:off x="6242152" y="1965960"/>
            <a:ext cx="5291176" cy="1965960"/>
          </a:xfrm>
          <a:prstGeom prst="roundRect">
            <a:avLst>
              <a:gd name="adj" fmla="val 6512"/>
            </a:avLst>
          </a:prstGeom>
          <a:solidFill>
            <a:srgbClr val="F6F6F7"/>
          </a:solidFill>
          <a:ln/>
          <a:effectLst>
            <a:outerShdw sx="100000" sy="100000" kx="0" ky="0" algn="bl" rotWithShape="0" blurRad="127000" dist="38100" dir="5400000">
              <a:srgbClr val="27272A">
                <a:alpha val="12000"/>
              </a:srgbClr>
            </a:outerShdw>
          </a:effectLst>
        </p:spPr>
      </p:sp>
      <p:pic>
        <p:nvPicPr>
          <p:cNvPr id="10" name="Image 2" descr="/tmp/claude-0/-home-claude/34a532c3-29f6-5221-b4ba-d8e6b49c9601/scratchpad/vendepro/assets/icon_check_gra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4760" y="2258568"/>
            <a:ext cx="384048" cy="3840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6534760" y="2834640"/>
            <a:ext cx="4705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550" dirty="0">
                <a:solidFill>
                  <a:srgbClr val="272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tasación te lleva una tarde entera armarla en Canva o PowerPoint</a:t>
            </a:r>
            <a:endParaRPr lang="en-US" sz="1550" dirty="0"/>
          </a:p>
        </p:txBody>
      </p:sp>
      <p:sp>
        <p:nvSpPr>
          <p:cNvPr id="12" name="Shape 7"/>
          <p:cNvSpPr/>
          <p:nvPr/>
        </p:nvSpPr>
        <p:spPr>
          <a:xfrm>
            <a:off x="658368" y="4224528"/>
            <a:ext cx="5291176" cy="1965960"/>
          </a:xfrm>
          <a:prstGeom prst="roundRect">
            <a:avLst>
              <a:gd name="adj" fmla="val 6512"/>
            </a:avLst>
          </a:prstGeom>
          <a:solidFill>
            <a:srgbClr val="F6F6F7"/>
          </a:solidFill>
          <a:ln/>
          <a:effectLst>
            <a:outerShdw sx="100000" sy="100000" kx="0" ky="0" algn="bl" rotWithShape="0" blurRad="127000" dist="38100" dir="5400000">
              <a:srgbClr val="27272A">
                <a:alpha val="12000"/>
              </a:srgbClr>
            </a:outerShdw>
          </a:effectLst>
        </p:spPr>
      </p:sp>
      <p:pic>
        <p:nvPicPr>
          <p:cNvPr id="13" name="Image 3" descr="/tmp/claude-0/-home-claude/34a532c3-29f6-5221-b4ba-d8e6b49c9601/scratchpad/vendepro/assets/icon_check_gra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976" y="4517136"/>
            <a:ext cx="384048" cy="38404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950976" y="5093208"/>
            <a:ext cx="4705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550" dirty="0">
                <a:solidFill>
                  <a:srgbClr val="272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Invertís en publicidad y no sabés si realmente te trae ventas</a:t>
            </a:r>
            <a:endParaRPr lang="en-US" sz="1550" dirty="0"/>
          </a:p>
        </p:txBody>
      </p:sp>
      <p:sp>
        <p:nvSpPr>
          <p:cNvPr id="15" name="Shape 9"/>
          <p:cNvSpPr/>
          <p:nvPr/>
        </p:nvSpPr>
        <p:spPr>
          <a:xfrm>
            <a:off x="6242152" y="4224528"/>
            <a:ext cx="5291176" cy="1965960"/>
          </a:xfrm>
          <a:prstGeom prst="roundRect">
            <a:avLst>
              <a:gd name="adj" fmla="val 6512"/>
            </a:avLst>
          </a:prstGeom>
          <a:solidFill>
            <a:srgbClr val="F6F6F7"/>
          </a:solidFill>
          <a:ln/>
          <a:effectLst>
            <a:outerShdw sx="100000" sy="100000" kx="0" ky="0" algn="bl" rotWithShape="0" blurRad="127000" dist="38100" dir="5400000">
              <a:srgbClr val="27272A">
                <a:alpha val="12000"/>
              </a:srgbClr>
            </a:outerShdw>
          </a:effectLst>
        </p:spPr>
      </p:sp>
      <p:pic>
        <p:nvPicPr>
          <p:cNvPr id="16" name="Image 4" descr="/tmp/claude-0/-home-claude/34a532c3-29f6-5221-b4ba-d8e6b49c9601/scratchpad/vendepro/assets/icon_check_gra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4760" y="4517136"/>
            <a:ext cx="384048" cy="384048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6534760" y="5093208"/>
            <a:ext cx="4705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550" dirty="0">
                <a:solidFill>
                  <a:srgbClr val="272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hay forma de saber, de un vistazo, cuánto está laburando cada agente</a:t>
            </a:r>
            <a:endParaRPr lang="en-US" sz="15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34a532c3-29f6-5221-b4ba-d8e6b49c9601/scratchpad/vendepro/assets/grad_tab_vertic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612648"/>
            <a:ext cx="82296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96112" y="512064"/>
            <a:ext cx="106372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000" b="1" dirty="0">
                <a:solidFill>
                  <a:srgbClr val="272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 que cuesta gestionar “a memoria”</a:t>
            </a:r>
            <a:endParaRPr lang="en-US" sz="3000" dirty="0"/>
          </a:p>
        </p:txBody>
      </p:sp>
      <p:sp>
        <p:nvSpPr>
          <p:cNvPr id="4" name="Text 1"/>
          <p:cNvSpPr txBox="1"/>
          <p:nvPr/>
        </p:nvSpPr>
        <p:spPr>
          <a:xfrm>
            <a:off x="658368" y="643737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100" kern="0" dirty="0">
                <a:solidFill>
                  <a:srgbClr val="A1A1AA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VendéPro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10436047" y="643737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1A1AA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03 / 13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658368" y="2331720"/>
            <a:ext cx="5254600" cy="3200400"/>
          </a:xfrm>
          <a:prstGeom prst="roundRect">
            <a:avLst>
              <a:gd name="adj" fmla="val 4000"/>
            </a:avLst>
          </a:prstGeom>
          <a:solidFill>
            <a:srgbClr val="F6F6F7"/>
          </a:solidFill>
          <a:ln/>
          <a:effectLst>
            <a:outerShdw sx="100000" sy="100000" kx="0" ky="0" algn="bl" rotWithShape="0" blurRad="127000" dist="38100" dir="5400000">
              <a:srgbClr val="27272A">
                <a:alpha val="12000"/>
              </a:srgbClr>
            </a:outerShdw>
          </a:effectLst>
        </p:spPr>
      </p:sp>
      <p:pic>
        <p:nvPicPr>
          <p:cNvPr id="7" name="Image 1" descr="/tmp/claude-0/-home-claude/34a532c3-29f6-5221-b4ba-d8e6b49c9601/scratchpad/vendepro/assets/icon_coin_gra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" y="2697480"/>
            <a:ext cx="566928" cy="56692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024128" y="3566160"/>
            <a:ext cx="4523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2100" b="1" dirty="0">
                <a:solidFill>
                  <a:srgbClr val="FF007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lead que se enfría</a:t>
            </a:r>
            <a:pPr indent="0" marL="0">
              <a:lnSpc>
                <a:spcPct val="132000"/>
              </a:lnSpc>
              <a:buNone/>
            </a:pPr>
            <a:r>
              <a:rPr lang="en-US" sz="2100" dirty="0">
                <a:solidFill>
                  <a:srgbClr val="272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es plata que ya invertiste en captarlo.</a:t>
            </a:r>
            <a:endParaRPr lang="en-US" sz="2100" dirty="0"/>
          </a:p>
        </p:txBody>
      </p:sp>
      <p:sp>
        <p:nvSpPr>
          <p:cNvPr id="9" name="Shape 5"/>
          <p:cNvSpPr/>
          <p:nvPr/>
        </p:nvSpPr>
        <p:spPr>
          <a:xfrm>
            <a:off x="6278728" y="2331720"/>
            <a:ext cx="5254600" cy="3200400"/>
          </a:xfrm>
          <a:prstGeom prst="roundRect">
            <a:avLst>
              <a:gd name="adj" fmla="val 4000"/>
            </a:avLst>
          </a:prstGeom>
          <a:solidFill>
            <a:srgbClr val="F6F6F7"/>
          </a:solidFill>
          <a:ln/>
          <a:effectLst>
            <a:outerShdw sx="100000" sy="100000" kx="0" ky="0" algn="bl" rotWithShape="0" blurRad="127000" dist="38100" dir="5400000">
              <a:srgbClr val="27272A">
                <a:alpha val="12000"/>
              </a:srgbClr>
            </a:outerShdw>
          </a:effectLst>
        </p:spPr>
      </p:sp>
      <p:pic>
        <p:nvPicPr>
          <p:cNvPr id="10" name="Image 2" descr="/tmp/claude-0/-home-claude/34a532c3-29f6-5221-b4ba-d8e6b49c9601/scratchpad/vendepro/assets/icon_clock_gra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4488" y="2697480"/>
            <a:ext cx="566928" cy="56692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6644488" y="3566160"/>
            <a:ext cx="4523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2100" b="1" dirty="0">
                <a:solidFill>
                  <a:srgbClr val="FF007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tasación armada de cero</a:t>
            </a:r>
            <a:pPr indent="0" marL="0">
              <a:lnSpc>
                <a:spcPct val="132000"/>
              </a:lnSpc>
              <a:buNone/>
            </a:pPr>
            <a:r>
              <a:rPr lang="en-US" sz="2100" dirty="0">
                <a:solidFill>
                  <a:srgbClr val="272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es tiempo que no volvés a recuperar.</a:t>
            </a:r>
            <a:endParaRPr lang="en-US" sz="2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34a532c3-29f6-5221-b4ba-d8e6b49c9601/scratchpad/vendepro/assets/grad_blob_circle.png">    </p:cNvPr>
          <p:cNvPicPr>
            <a:picLocks noChangeAspect="1"/>
          </p:cNvPicPr>
          <p:nvPr/>
        </p:nvPicPr>
        <p:blipFill>
          <a:blip r:embed="rId1">
            <a:alphaModFix amt="15000"/>
          </a:blip>
          <a:stretch>
            <a:fillRect/>
          </a:stretch>
        </p:blipFill>
        <p:spPr>
          <a:xfrm>
            <a:off x="-2377440" y="-2194560"/>
            <a:ext cx="5120640" cy="5120640"/>
          </a:xfrm>
          <a:prstGeom prst="rect">
            <a:avLst/>
          </a:prstGeom>
        </p:spPr>
      </p:pic>
      <p:pic>
        <p:nvPicPr>
          <p:cNvPr id="3" name="Image 1" descr="/tmp/claude-0/-home-claude/34a532c3-29f6-5221-b4ba-d8e6b49c9601/scratchpad/vendepro/assets/grad_tab_vertic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612648"/>
            <a:ext cx="82296" cy="4572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896112" y="512064"/>
            <a:ext cx="97292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000" b="1" dirty="0">
                <a:solidFill>
                  <a:srgbClr val="272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VendéPro: un CRM armado por y para agentes reales</a:t>
            </a:r>
            <a:endParaRPr lang="en-US" sz="3000" dirty="0"/>
          </a:p>
        </p:txBody>
      </p:sp>
      <p:sp>
        <p:nvSpPr>
          <p:cNvPr id="5" name="Text 1"/>
          <p:cNvSpPr txBox="1"/>
          <p:nvPr/>
        </p:nvSpPr>
        <p:spPr>
          <a:xfrm>
            <a:off x="896112" y="2103120"/>
            <a:ext cx="8778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52525B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Nació de la operación diaria de Marcela Genta Operaciones Inmobiliarias, en Buenos Aires. Cada pantalla resuelve un problema real de campo — no funciones de relleno.</a:t>
            </a:r>
            <a:endParaRPr lang="en-US" sz="1800" dirty="0"/>
          </a:p>
        </p:txBody>
      </p:sp>
      <p:sp>
        <p:nvSpPr>
          <p:cNvPr id="6" name="Shape 2"/>
          <p:cNvSpPr/>
          <p:nvPr/>
        </p:nvSpPr>
        <p:spPr>
          <a:xfrm>
            <a:off x="658368" y="4892040"/>
            <a:ext cx="5852160" cy="1051560"/>
          </a:xfrm>
          <a:prstGeom prst="roundRect">
            <a:avLst>
              <a:gd name="adj" fmla="val 13913"/>
            </a:avLst>
          </a:prstGeom>
          <a:solidFill>
            <a:srgbClr val="FFF1F7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978408" y="4892040"/>
            <a:ext cx="5212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72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Marcela Genta </a:t>
            </a:r>
            <a:pPr indent="0" marL="0">
              <a:buNone/>
            </a:pPr>
            <a:r>
              <a:rPr lang="en-US" sz="1350" dirty="0">
                <a:solidFill>
                  <a:srgbClr val="5252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Operaciones Inmobiliarias — Buenos Aires</a:t>
            </a:r>
            <a:endParaRPr lang="en-US" sz="1350" dirty="0"/>
          </a:p>
        </p:txBody>
      </p:sp>
      <p:sp>
        <p:nvSpPr>
          <p:cNvPr id="8" name="Text 4"/>
          <p:cNvSpPr txBox="1"/>
          <p:nvPr/>
        </p:nvSpPr>
        <p:spPr>
          <a:xfrm>
            <a:off x="658368" y="643737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100" kern="0" dirty="0">
                <a:solidFill>
                  <a:srgbClr val="A1A1AA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VendéPro</a:t>
            </a:r>
            <a:endParaRPr lang="en-US" sz="950" dirty="0"/>
          </a:p>
        </p:txBody>
      </p:sp>
      <p:sp>
        <p:nvSpPr>
          <p:cNvPr id="9" name="Text 5"/>
          <p:cNvSpPr txBox="1"/>
          <p:nvPr/>
        </p:nvSpPr>
        <p:spPr>
          <a:xfrm>
            <a:off x="10436047" y="643737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1A1AA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04 / 13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34a532c3-29f6-5221-b4ba-d8e6b49c9601/scratchpad/vendepro/assets/grad_tab_vertic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612648"/>
            <a:ext cx="82296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96112" y="512064"/>
            <a:ext cx="101864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800" b="1" dirty="0">
                <a:solidFill>
                  <a:srgbClr val="272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Nunca más un lead que se enfría sin que lo veas</a:t>
            </a:r>
            <a:endParaRPr lang="en-US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658368" y="643737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100" kern="0" dirty="0">
                <a:solidFill>
                  <a:srgbClr val="A1A1AA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VendéPro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10436047" y="643737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1A1AA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05 / 13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658368" y="2148840"/>
            <a:ext cx="5291176" cy="1783080"/>
          </a:xfrm>
          <a:prstGeom prst="roundRect">
            <a:avLst>
              <a:gd name="adj" fmla="val 7179"/>
            </a:avLst>
          </a:prstGeom>
          <a:solidFill>
            <a:srgbClr val="F6F6F7"/>
          </a:solidFill>
          <a:ln/>
          <a:effectLst>
            <a:outerShdw sx="100000" sy="100000" kx="0" ky="0" algn="bl" rotWithShape="0" blurRad="127000" dist="38100" dir="5400000">
              <a:srgbClr val="27272A">
                <a:alpha val="12000"/>
              </a:srgbClr>
            </a:outerShdw>
          </a:effectLst>
        </p:spPr>
      </p:sp>
      <p:pic>
        <p:nvPicPr>
          <p:cNvPr id="7" name="Image 1" descr="/tmp/claude-0/-home-claude/34a532c3-29f6-5221-b4ba-d8e6b49c9601/scratchpad/vendepro/assets/icon_check_gra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2487168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26464" y="2404872"/>
            <a:ext cx="42304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rgbClr val="272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Pipeline de 9 a 11 etapas, de “nuevo” a “captado”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6242152" y="2148840"/>
            <a:ext cx="5291176" cy="1783080"/>
          </a:xfrm>
          <a:prstGeom prst="roundRect">
            <a:avLst>
              <a:gd name="adj" fmla="val 7179"/>
            </a:avLst>
          </a:prstGeom>
          <a:solidFill>
            <a:srgbClr val="F6F6F7"/>
          </a:solidFill>
          <a:ln/>
          <a:effectLst>
            <a:outerShdw sx="100000" sy="100000" kx="0" ky="0" algn="bl" rotWithShape="0" blurRad="127000" dist="38100" dir="5400000">
              <a:srgbClr val="27272A">
                <a:alpha val="12000"/>
              </a:srgbClr>
            </a:outerShdw>
          </a:effectLst>
        </p:spPr>
      </p:sp>
      <p:pic>
        <p:nvPicPr>
          <p:cNvPr id="10" name="Image 2" descr="/tmp/claude-0/-home-claude/34a532c3-29f6-5221-b4ba-d8e6b49c9601/scratchpad/vendepro/assets/icon_check_gra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4760" y="2487168"/>
            <a:ext cx="274320" cy="2743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010248" y="2404872"/>
            <a:ext cx="42304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rgbClr val="272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Alerta automática cuando un lead lleva 24hs sin contacto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658368" y="4224528"/>
            <a:ext cx="5291176" cy="1783080"/>
          </a:xfrm>
          <a:prstGeom prst="roundRect">
            <a:avLst>
              <a:gd name="adj" fmla="val 7179"/>
            </a:avLst>
          </a:prstGeom>
          <a:solidFill>
            <a:srgbClr val="F6F6F7"/>
          </a:solidFill>
          <a:ln/>
          <a:effectLst>
            <a:outerShdw sx="100000" sy="100000" kx="0" ky="0" algn="bl" rotWithShape="0" blurRad="127000" dist="38100" dir="5400000">
              <a:srgbClr val="27272A">
                <a:alpha val="12000"/>
              </a:srgbClr>
            </a:outerShdw>
          </a:effectLst>
        </p:spPr>
      </p:sp>
      <p:pic>
        <p:nvPicPr>
          <p:cNvPr id="13" name="Image 3" descr="/tmp/claude-0/-home-claude/34a532c3-29f6-5221-b4ba-d8e6b49c9601/scratchpad/vendepro/assets/icon_check_gra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976" y="4562856"/>
            <a:ext cx="274320" cy="27432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426464" y="4480560"/>
            <a:ext cx="42304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rgbClr val="272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Vista kanban, arrastrar y soltar</a:t>
            </a:r>
            <a:endParaRPr lang="en-US" sz="1600" dirty="0"/>
          </a:p>
        </p:txBody>
      </p:sp>
      <p:sp>
        <p:nvSpPr>
          <p:cNvPr id="15" name="Shape 9"/>
          <p:cNvSpPr/>
          <p:nvPr/>
        </p:nvSpPr>
        <p:spPr>
          <a:xfrm>
            <a:off x="6242152" y="4224528"/>
            <a:ext cx="5291176" cy="1783080"/>
          </a:xfrm>
          <a:prstGeom prst="roundRect">
            <a:avLst>
              <a:gd name="adj" fmla="val 7179"/>
            </a:avLst>
          </a:prstGeom>
          <a:solidFill>
            <a:srgbClr val="F6F6F7"/>
          </a:solidFill>
          <a:ln/>
          <a:effectLst>
            <a:outerShdw sx="100000" sy="100000" kx="0" ky="0" algn="bl" rotWithShape="0" blurRad="127000" dist="38100" dir="5400000">
              <a:srgbClr val="27272A">
                <a:alpha val="12000"/>
              </a:srgbClr>
            </a:outerShdw>
          </a:effectLst>
        </p:spPr>
      </p:sp>
      <p:pic>
        <p:nvPicPr>
          <p:cNvPr id="16" name="Image 4" descr="/tmp/claude-0/-home-claude/34a532c3-29f6-5221-b4ba-d8e6b49c9601/scratchpad/vendepro/assets/icon_check_gra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4760" y="4562856"/>
            <a:ext cx="274320" cy="27432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7010248" y="4480560"/>
            <a:ext cx="42304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rgbClr val="272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Historial completo de cada cambio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34a532c3-29f6-5221-b4ba-d8e6b49c9601/scratchpad/vendepro/assets/grad_tab_vertic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612648"/>
            <a:ext cx="82296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96112" y="512064"/>
            <a:ext cx="104607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272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producto estrella: tasaciones profesionales automáticas</a:t>
            </a:r>
            <a:endParaRPr lang="en-US" sz="2700" dirty="0"/>
          </a:p>
        </p:txBody>
      </p:sp>
      <p:sp>
        <p:nvSpPr>
          <p:cNvPr id="4" name="Text 1"/>
          <p:cNvSpPr txBox="1"/>
          <p:nvPr/>
        </p:nvSpPr>
        <p:spPr>
          <a:xfrm>
            <a:off x="658368" y="643737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100" kern="0" dirty="0">
                <a:solidFill>
                  <a:srgbClr val="A1A1AA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VendéPro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10436047" y="643737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1A1AA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06 / 13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658368" y="2148840"/>
            <a:ext cx="5291176" cy="1783080"/>
          </a:xfrm>
          <a:prstGeom prst="roundRect">
            <a:avLst>
              <a:gd name="adj" fmla="val 7179"/>
            </a:avLst>
          </a:prstGeom>
          <a:solidFill>
            <a:srgbClr val="F6F6F7"/>
          </a:solidFill>
          <a:ln/>
          <a:effectLst>
            <a:outerShdw sx="100000" sy="100000" kx="0" ky="0" algn="bl" rotWithShape="0" blurRad="127000" dist="38100" dir="5400000">
              <a:srgbClr val="27272A">
                <a:alpha val="12000"/>
              </a:srgbClr>
            </a:outerShdw>
          </a:effectLst>
        </p:spPr>
      </p:sp>
      <p:pic>
        <p:nvPicPr>
          <p:cNvPr id="7" name="Image 1" descr="/tmp/claude-0/-home-claude/34a532c3-29f6-5221-b4ba-d8e6b49c9601/scratchpad/vendepro/assets/icon_check_gra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2487168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26464" y="2404872"/>
            <a:ext cx="42304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550" dirty="0">
                <a:solidFill>
                  <a:srgbClr val="272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Ficha de visita con </a:t>
            </a:r>
            <a:pPr algn="l" indent="0" marL="0">
              <a:lnSpc>
                <a:spcPct val="122000"/>
              </a:lnSpc>
              <a:buNone/>
            </a:pPr>
            <a:r>
              <a:rPr lang="en-US" sz="1550" b="1" dirty="0">
                <a:solidFill>
                  <a:srgbClr val="FF007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~40 campos</a:t>
            </a:r>
            <a:pPr algn="l" indent="0" marL="0">
              <a:lnSpc>
                <a:spcPct val="122000"/>
              </a:lnSpc>
              <a:buNone/>
            </a:pPr>
            <a:r>
              <a:rPr lang="en-US" sz="1550" dirty="0">
                <a:solidFill>
                  <a:srgbClr val="272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(piso, ascensor, antigüedad, amenities, expensas)</a:t>
            </a:r>
            <a:endParaRPr lang="en-US" sz="1550" dirty="0"/>
          </a:p>
        </p:txBody>
      </p:sp>
      <p:sp>
        <p:nvSpPr>
          <p:cNvPr id="9" name="Shape 5"/>
          <p:cNvSpPr/>
          <p:nvPr/>
        </p:nvSpPr>
        <p:spPr>
          <a:xfrm>
            <a:off x="6242152" y="2148840"/>
            <a:ext cx="5291176" cy="1783080"/>
          </a:xfrm>
          <a:prstGeom prst="roundRect">
            <a:avLst>
              <a:gd name="adj" fmla="val 7179"/>
            </a:avLst>
          </a:prstGeom>
          <a:solidFill>
            <a:srgbClr val="F6F6F7"/>
          </a:solidFill>
          <a:ln/>
          <a:effectLst>
            <a:outerShdw sx="100000" sy="100000" kx="0" ky="0" algn="bl" rotWithShape="0" blurRad="127000" dist="38100" dir="5400000">
              <a:srgbClr val="27272A">
                <a:alpha val="12000"/>
              </a:srgbClr>
            </a:outerShdw>
          </a:effectLst>
        </p:spPr>
      </p:sp>
      <p:pic>
        <p:nvPicPr>
          <p:cNvPr id="10" name="Image 2" descr="/tmp/claude-0/-home-claude/34a532c3-29f6-5221-b4ba-d8e6b49c9601/scratchpad/vendepro/assets/icon_check_gra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4760" y="2487168"/>
            <a:ext cx="274320" cy="2743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010248" y="2404872"/>
            <a:ext cx="42304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550" dirty="0">
                <a:solidFill>
                  <a:srgbClr val="272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Comparables de mercado y análisis FODA incluidos</a:t>
            </a:r>
            <a:endParaRPr lang="en-US" sz="1550" dirty="0"/>
          </a:p>
        </p:txBody>
      </p:sp>
      <p:sp>
        <p:nvSpPr>
          <p:cNvPr id="12" name="Shape 7"/>
          <p:cNvSpPr/>
          <p:nvPr/>
        </p:nvSpPr>
        <p:spPr>
          <a:xfrm>
            <a:off x="658368" y="4224528"/>
            <a:ext cx="5291176" cy="1783080"/>
          </a:xfrm>
          <a:prstGeom prst="roundRect">
            <a:avLst>
              <a:gd name="adj" fmla="val 7179"/>
            </a:avLst>
          </a:prstGeom>
          <a:solidFill>
            <a:srgbClr val="F6F6F7"/>
          </a:solidFill>
          <a:ln/>
          <a:effectLst>
            <a:outerShdw sx="100000" sy="100000" kx="0" ky="0" algn="bl" rotWithShape="0" blurRad="127000" dist="38100" dir="5400000">
              <a:srgbClr val="27272A">
                <a:alpha val="12000"/>
              </a:srgbClr>
            </a:outerShdw>
          </a:effectLst>
        </p:spPr>
      </p:sp>
      <p:pic>
        <p:nvPicPr>
          <p:cNvPr id="13" name="Image 3" descr="/tmp/claude-0/-home-claude/34a532c3-29f6-5221-b4ba-d8e6b49c9601/scratchpad/vendepro/assets/icon_check_gra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976" y="4562856"/>
            <a:ext cx="274320" cy="27432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426464" y="4480560"/>
            <a:ext cx="42304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550" dirty="0">
                <a:solidFill>
                  <a:srgbClr val="272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PDF generado automáticamente, listo para enviar</a:t>
            </a:r>
            <a:endParaRPr lang="en-US" sz="1550" dirty="0"/>
          </a:p>
        </p:txBody>
      </p:sp>
      <p:sp>
        <p:nvSpPr>
          <p:cNvPr id="15" name="Shape 9"/>
          <p:cNvSpPr/>
          <p:nvPr/>
        </p:nvSpPr>
        <p:spPr>
          <a:xfrm>
            <a:off x="6242152" y="4224528"/>
            <a:ext cx="5291176" cy="1783080"/>
          </a:xfrm>
          <a:prstGeom prst="roundRect">
            <a:avLst>
              <a:gd name="adj" fmla="val 7179"/>
            </a:avLst>
          </a:prstGeom>
          <a:solidFill>
            <a:srgbClr val="F6F6F7"/>
          </a:solidFill>
          <a:ln/>
          <a:effectLst>
            <a:outerShdw sx="100000" sy="100000" kx="0" ky="0" algn="bl" rotWithShape="0" blurRad="127000" dist="38100" dir="5400000">
              <a:srgbClr val="27272A">
                <a:alpha val="12000"/>
              </a:srgbClr>
            </a:outerShdw>
          </a:effectLst>
        </p:spPr>
      </p:sp>
      <p:pic>
        <p:nvPicPr>
          <p:cNvPr id="16" name="Image 4" descr="/tmp/claude-0/-home-claude/34a532c3-29f6-5221-b4ba-d8e6b49c9601/scratchpad/vendepro/assets/icon_check_gra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4760" y="4562856"/>
            <a:ext cx="274320" cy="27432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7010248" y="4480560"/>
            <a:ext cx="42304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550" dirty="0">
                <a:solidFill>
                  <a:srgbClr val="272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URL pública para compartir con el propietario</a:t>
            </a:r>
            <a:endParaRPr lang="en-US" sz="15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34a532c3-29f6-5221-b4ba-d8e6b49c9601/scratchpad/vendepro/assets/grad_tab_vertic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612648"/>
            <a:ext cx="82296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96112" y="512064"/>
            <a:ext cx="106372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000" b="1" dirty="0">
                <a:solidFill>
                  <a:srgbClr val="272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la captación a la escritura</a:t>
            </a:r>
            <a:endParaRPr lang="en-US" sz="3000" dirty="0"/>
          </a:p>
        </p:txBody>
      </p:sp>
      <p:sp>
        <p:nvSpPr>
          <p:cNvPr id="4" name="Text 1"/>
          <p:cNvSpPr txBox="1"/>
          <p:nvPr/>
        </p:nvSpPr>
        <p:spPr>
          <a:xfrm>
            <a:off x="658368" y="643737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100" kern="0" dirty="0">
                <a:solidFill>
                  <a:srgbClr val="A1A1AA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VendéPro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10436047" y="643737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1A1AA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07 / 13</a:t>
            </a:r>
            <a:endParaRPr lang="en-US" sz="950" dirty="0"/>
          </a:p>
        </p:txBody>
      </p:sp>
      <p:pic>
        <p:nvPicPr>
          <p:cNvPr id="6" name="Image 1" descr="/tmp/claude-0/-home-claude/34a532c3-29f6-5221-b4ba-d8e6b49c9601/scratchpad/vendepro/assets/icon_check_gra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133856" y="2093976"/>
            <a:ext cx="1039947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rgbClr val="272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Checklist de documentación, historial de precios con motivo del cambio</a:t>
            </a:r>
            <a:endParaRPr lang="en-US" sz="1650" dirty="0"/>
          </a:p>
        </p:txBody>
      </p:sp>
      <p:sp>
        <p:nvSpPr>
          <p:cNvPr id="8" name="Shape 4"/>
          <p:cNvSpPr/>
          <p:nvPr/>
        </p:nvSpPr>
        <p:spPr>
          <a:xfrm>
            <a:off x="658368" y="3246120"/>
            <a:ext cx="2430704" cy="777240"/>
          </a:xfrm>
          <a:prstGeom prst="roundRect">
            <a:avLst>
              <a:gd name="adj" fmla="val 50000"/>
            </a:avLst>
          </a:prstGeom>
          <a:solidFill>
            <a:srgbClr val="FFF1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658368" y="3246120"/>
            <a:ext cx="24307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72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Reserva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3043352" y="3246120"/>
            <a:ext cx="4754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007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7"/>
          <p:cNvSpPr/>
          <p:nvPr/>
        </p:nvSpPr>
        <p:spPr>
          <a:xfrm>
            <a:off x="3473120" y="3246120"/>
            <a:ext cx="2430704" cy="777240"/>
          </a:xfrm>
          <a:prstGeom prst="roundRect">
            <a:avLst>
              <a:gd name="adj" fmla="val 50000"/>
            </a:avLst>
          </a:prstGeom>
          <a:solidFill>
            <a:srgbClr val="FFF1F7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3473120" y="3246120"/>
            <a:ext cx="24307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72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Boleto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5858104" y="3246120"/>
            <a:ext cx="4754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007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>
            <a:off x="6287872" y="3246120"/>
            <a:ext cx="2430704" cy="777240"/>
          </a:xfrm>
          <a:prstGeom prst="roundRect">
            <a:avLst>
              <a:gd name="adj" fmla="val 50000"/>
            </a:avLst>
          </a:prstGeom>
          <a:solidFill>
            <a:srgbClr val="FFF1F7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6287872" y="3246120"/>
            <a:ext cx="24307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72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Escritura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8672855" y="3246120"/>
            <a:ext cx="4754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007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Shape 13"/>
          <p:cNvSpPr/>
          <p:nvPr/>
        </p:nvSpPr>
        <p:spPr>
          <a:xfrm>
            <a:off x="9102623" y="3246120"/>
            <a:ext cx="2430704" cy="777240"/>
          </a:xfrm>
          <a:prstGeom prst="roundRect">
            <a:avLst>
              <a:gd name="adj" fmla="val 50000"/>
            </a:avLst>
          </a:prstGeom>
          <a:solidFill>
            <a:srgbClr val="FFF1F7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9102623" y="3246120"/>
            <a:ext cx="24307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72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Entrega</a:t>
            </a:r>
            <a:endParaRPr lang="en-US" sz="1600" dirty="0"/>
          </a:p>
        </p:txBody>
      </p:sp>
      <p:sp>
        <p:nvSpPr>
          <p:cNvPr id="19" name="Text 15"/>
          <p:cNvSpPr txBox="1"/>
          <p:nvPr/>
        </p:nvSpPr>
        <p:spPr>
          <a:xfrm>
            <a:off x="658368" y="4151376"/>
            <a:ext cx="108749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71717A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todo trazado</a:t>
            </a:r>
            <a:endParaRPr lang="en-US" sz="1300" dirty="0"/>
          </a:p>
        </p:txBody>
      </p:sp>
      <p:pic>
        <p:nvPicPr>
          <p:cNvPr id="20" name="Image 2" descr="/tmp/claude-0/-home-claude/34a532c3-29f6-5221-b4ba-d8e6b49c9601/scratchpad/vendepro/assets/icon_check_gra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4736592"/>
            <a:ext cx="274320" cy="27432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133856" y="4654296"/>
            <a:ext cx="1039947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rgbClr val="272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Feed automático hacia portales (Zonaprop, Argenprop)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34a532c3-29f6-5221-b4ba-d8e6b49c9601/scratchpad/vendepro/assets/grad_tab_vertic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612648"/>
            <a:ext cx="82296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96112" y="512064"/>
            <a:ext cx="106372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000" b="1" dirty="0">
                <a:solidFill>
                  <a:srgbClr val="272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Sabé qué campaña realmente te vende</a:t>
            </a:r>
            <a:endParaRPr lang="en-US" sz="3000" dirty="0"/>
          </a:p>
        </p:txBody>
      </p:sp>
      <p:sp>
        <p:nvSpPr>
          <p:cNvPr id="4" name="Text 1"/>
          <p:cNvSpPr txBox="1"/>
          <p:nvPr/>
        </p:nvSpPr>
        <p:spPr>
          <a:xfrm>
            <a:off x="658368" y="643737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100" kern="0" dirty="0">
                <a:solidFill>
                  <a:srgbClr val="A1A1AA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VendéPro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10436047" y="643737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1A1AA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08 / 13</a:t>
            </a:r>
            <a:endParaRPr lang="en-US" sz="950" dirty="0"/>
          </a:p>
        </p:txBody>
      </p:sp>
      <p:pic>
        <p:nvPicPr>
          <p:cNvPr id="6" name="Image 1" descr="/tmp/claude-0/-home-claude/34a532c3-29f6-5221-b4ba-d8e6b49c9601/scratchpad/vendepro/assets/icon_check_gra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267712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133856" y="2185416"/>
            <a:ext cx="63825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rgbClr val="272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Envío de conversiones directo al servidor de Meta y Google </a:t>
            </a:r>
            <a:pPr algn="l" indent="0" marL="0">
              <a:lnSpc>
                <a:spcPct val="122000"/>
              </a:lnSpc>
              <a:buNone/>
            </a:pPr>
            <a:r>
              <a:rPr lang="en-US" sz="1650" i="1" dirty="0">
                <a:solidFill>
                  <a:srgbClr val="5252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(no depende del navegador del cliente)</a:t>
            </a:r>
            <a:endParaRPr lang="en-US" sz="1650" dirty="0"/>
          </a:p>
        </p:txBody>
      </p:sp>
      <p:pic>
        <p:nvPicPr>
          <p:cNvPr id="8" name="Image 2" descr="/tmp/claude-0/-home-claude/34a532c3-29f6-5221-b4ba-d8e6b49c9601/scratchpad/vendepro/assets/icon_check_gra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410712"/>
            <a:ext cx="274320" cy="27432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133856" y="3328416"/>
            <a:ext cx="63825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rgbClr val="272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Trazabilidad desde el clic hasta la reserva y la venta</a:t>
            </a:r>
            <a:endParaRPr lang="en-US" sz="1650" dirty="0"/>
          </a:p>
        </p:txBody>
      </p:sp>
      <p:pic>
        <p:nvPicPr>
          <p:cNvPr id="10" name="Image 3" descr="/tmp/claude-0/-home-claude/34a532c3-29f6-5221-b4ba-d8e6b49c9601/scratchpad/vendepro/assets/icon_check_gra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4553712"/>
            <a:ext cx="274320" cy="27432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133856" y="4471416"/>
            <a:ext cx="63825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rgbClr val="272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Dashboard de campañas con costo por lead</a:t>
            </a:r>
            <a:endParaRPr lang="en-US" sz="1650" dirty="0"/>
          </a:p>
        </p:txBody>
      </p:sp>
      <p:sp>
        <p:nvSpPr>
          <p:cNvPr id="12" name="Shape 6"/>
          <p:cNvSpPr/>
          <p:nvPr/>
        </p:nvSpPr>
        <p:spPr>
          <a:xfrm>
            <a:off x="8019288" y="2148840"/>
            <a:ext cx="3514039" cy="3566160"/>
          </a:xfrm>
          <a:prstGeom prst="roundRect">
            <a:avLst>
              <a:gd name="adj" fmla="val 5204"/>
            </a:avLst>
          </a:prstGeom>
          <a:solidFill>
            <a:srgbClr val="FFF1F7"/>
          </a:solidFill>
          <a:ln/>
        </p:spPr>
      </p:sp>
      <p:pic>
        <p:nvPicPr>
          <p:cNvPr id="13" name="Image 4" descr="/tmp/claude-0/-home-claude/34a532c3-29f6-5221-b4ba-d8e6b49c9601/scratchpad/vendepro/assets/icon_bars_gra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1948" y="2651760"/>
            <a:ext cx="1188720" cy="118872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8293608" y="4114800"/>
            <a:ext cx="296539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2525B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Costo por lead, medido de verdad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34a532c3-29f6-5221-b4ba-d8e6b49c9601/scratchpad/vendepro/assets/grad_tab_vertic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612648"/>
            <a:ext cx="82296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96112" y="512064"/>
            <a:ext cx="103692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272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IA que ahorra trabajo manual, no que promete magia</a:t>
            </a:r>
            <a:endParaRPr lang="en-US" sz="2700" dirty="0"/>
          </a:p>
        </p:txBody>
      </p:sp>
      <p:sp>
        <p:nvSpPr>
          <p:cNvPr id="4" name="Text 1"/>
          <p:cNvSpPr txBox="1"/>
          <p:nvPr/>
        </p:nvSpPr>
        <p:spPr>
          <a:xfrm>
            <a:off x="658368" y="643737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100" kern="0" dirty="0">
                <a:solidFill>
                  <a:srgbClr val="A1A1AA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VendéPro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10436047" y="643737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1A1AA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09 / 13</a:t>
            </a:r>
            <a:endParaRPr lang="en-US" sz="950" dirty="0"/>
          </a:p>
        </p:txBody>
      </p:sp>
      <p:pic>
        <p:nvPicPr>
          <p:cNvPr id="6" name="Image 1" descr="/tmp/claude-0/-home-claude/34a532c3-29f6-5221-b4ba-d8e6b49c9601/scratchpad/vendepro/assets/icon_check_gra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313432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133856" y="2231136"/>
            <a:ext cx="63825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rgbClr val="272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Extrae datos de un lead desde un mensaje de WhatsApp o una imagen</a:t>
            </a:r>
            <a:endParaRPr lang="en-US" sz="1650" dirty="0"/>
          </a:p>
        </p:txBody>
      </p:sp>
      <p:pic>
        <p:nvPicPr>
          <p:cNvPr id="8" name="Image 2" descr="/tmp/claude-0/-home-claude/34a532c3-29f6-5221-b4ba-d8e6b49c9601/scratchpad/vendepro/assets/icon_check_gra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502152"/>
            <a:ext cx="274320" cy="27432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133856" y="3419856"/>
            <a:ext cx="63825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rgbClr val="272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Lee screenshots de portales para armar reportes de performance automáticamente</a:t>
            </a:r>
            <a:endParaRPr lang="en-US" sz="1650" dirty="0"/>
          </a:p>
        </p:txBody>
      </p:sp>
      <p:pic>
        <p:nvPicPr>
          <p:cNvPr id="10" name="Image 3" descr="/tmp/claude-0/-home-claude/34a532c3-29f6-5221-b4ba-d8e6b49c9601/scratchpad/vendepro/assets/icon_check_gra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4690872"/>
            <a:ext cx="274320" cy="27432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133856" y="4608576"/>
            <a:ext cx="63825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rgbClr val="272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Ayuda a editar el copy de tus landings con instrucciones en lenguaje natural</a:t>
            </a:r>
            <a:endParaRPr lang="en-US" sz="1650" dirty="0"/>
          </a:p>
        </p:txBody>
      </p:sp>
      <p:sp>
        <p:nvSpPr>
          <p:cNvPr id="12" name="Shape 6"/>
          <p:cNvSpPr/>
          <p:nvPr/>
        </p:nvSpPr>
        <p:spPr>
          <a:xfrm>
            <a:off x="8019288" y="2148840"/>
            <a:ext cx="3514039" cy="3566160"/>
          </a:xfrm>
          <a:prstGeom prst="roundRect">
            <a:avLst>
              <a:gd name="adj" fmla="val 5204"/>
            </a:avLst>
          </a:prstGeom>
          <a:solidFill>
            <a:srgbClr val="FFF1F7"/>
          </a:solidFill>
          <a:ln/>
        </p:spPr>
      </p:sp>
      <p:pic>
        <p:nvPicPr>
          <p:cNvPr id="13" name="Image 4" descr="/tmp/claude-0/-home-claude/34a532c3-29f6-5221-b4ba-d8e6b49c9601/scratchpad/vendepro/assets/icon_spark_gra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1948" y="2651760"/>
            <a:ext cx="1188720" cy="118872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8293608" y="4114800"/>
            <a:ext cx="296539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2525B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Menos carga manual,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2525B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más tiempo de venta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34a532c3-29f6-5221-b4ba-d8e6b49c9601/scratchpad/vendepro/assets/grad_full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58368" y="566928"/>
            <a:ext cx="2331720" cy="4206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658368" y="566928"/>
            <a:ext cx="2331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20" kern="0" dirty="0">
                <a:solidFill>
                  <a:srgbClr val="FF007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 CONSTRUCCIÓN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658368" y="1170432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Hacia dónde vamos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658368" y="1993392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50" dirty="0">
                <a:solidFill>
                  <a:srgbClr val="FFEAF3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Esto todavía no está listo — te lo contamos porque nos interesa tu opinión.</a:t>
            </a:r>
            <a:endParaRPr lang="en-US" sz="1650" dirty="0"/>
          </a:p>
        </p:txBody>
      </p:sp>
      <p:sp>
        <p:nvSpPr>
          <p:cNvPr id="7" name="Shape 4"/>
          <p:cNvSpPr/>
          <p:nvPr/>
        </p:nvSpPr>
        <p:spPr>
          <a:xfrm>
            <a:off x="658368" y="2834640"/>
            <a:ext cx="5254600" cy="1783080"/>
          </a:xfrm>
          <a:prstGeom prst="roundRect">
            <a:avLst>
              <a:gd name="adj" fmla="val 9231"/>
            </a:avLst>
          </a:prstGeom>
          <a:solidFill>
            <a:srgbClr val="FFFFFF">
              <a:alpha val="16000"/>
            </a:srgbClr>
          </a:solidFill>
          <a:ln/>
        </p:spPr>
      </p:sp>
      <p:pic>
        <p:nvPicPr>
          <p:cNvPr id="8" name="Image 1" descr="/tmp/claude-0/-home-claude/34a532c3-29f6-5221-b4ba-d8e6b49c9601/scratchpad/vendepro/assets/icon_spark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3127248"/>
            <a:ext cx="384048" cy="38404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50976" y="3703320"/>
            <a:ext cx="46693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Asistente de WhatsApp con IA: </a:t>
            </a:r>
            <a:pPr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responde consultas 24hs, agenda visitas, te avisa cuando hay que meterte vos</a:t>
            </a:r>
            <a:endParaRPr lang="en-US" sz="1450" dirty="0"/>
          </a:p>
        </p:txBody>
      </p:sp>
      <p:sp>
        <p:nvSpPr>
          <p:cNvPr id="10" name="Shape 6"/>
          <p:cNvSpPr/>
          <p:nvPr/>
        </p:nvSpPr>
        <p:spPr>
          <a:xfrm>
            <a:off x="6278728" y="2834640"/>
            <a:ext cx="5254600" cy="1783080"/>
          </a:xfrm>
          <a:prstGeom prst="roundRect">
            <a:avLst>
              <a:gd name="adj" fmla="val 9231"/>
            </a:avLst>
          </a:prstGeom>
          <a:solidFill>
            <a:srgbClr val="FFFFFF">
              <a:alpha val="16000"/>
            </a:srgbClr>
          </a:solidFill>
          <a:ln/>
        </p:spPr>
      </p:sp>
      <p:pic>
        <p:nvPicPr>
          <p:cNvPr id="11" name="Image 2" descr="/tmp/claude-0/-home-claude/34a532c3-29f6-5221-b4ba-d8e6b49c9601/scratchpad/vendepro/assets/icon_spark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1336" y="3127248"/>
            <a:ext cx="384048" cy="38404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571336" y="3703320"/>
            <a:ext cx="46693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Reporte mensual automático para el propietario, con el rendimiento de su propiedad</a:t>
            </a:r>
            <a:endParaRPr lang="en-US" sz="1450" dirty="0"/>
          </a:p>
        </p:txBody>
      </p:sp>
      <p:sp>
        <p:nvSpPr>
          <p:cNvPr id="13" name="Text 8"/>
          <p:cNvSpPr txBox="1"/>
          <p:nvPr/>
        </p:nvSpPr>
        <p:spPr>
          <a:xfrm>
            <a:off x="658368" y="4937760"/>
            <a:ext cx="1087495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¿Te serviría? Contanos y ayudanos a priorizarlo.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658368" y="643737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100" kern="0" dirty="0">
                <a:solidFill>
                  <a:srgbClr val="FFD9E9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VendéPro</a:t>
            </a:r>
            <a:endParaRPr lang="en-US" sz="950" dirty="0"/>
          </a:p>
        </p:txBody>
      </p:sp>
      <p:sp>
        <p:nvSpPr>
          <p:cNvPr id="15" name="Text 10"/>
          <p:cNvSpPr txBox="1"/>
          <p:nvPr/>
        </p:nvSpPr>
        <p:spPr>
          <a:xfrm>
            <a:off x="10436047" y="643737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FD9E9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10 / 13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34a532c3-29f6-5221-b4ba-d8e6b49c9601/scratchpad/vendepro/assets/grad_tab_vertic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612648"/>
            <a:ext cx="82296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96112" y="512064"/>
            <a:ext cx="106436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rgbClr val="272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Así se construye VendéPro: módulo por módulo, según lo que pidan los clientes</a:t>
            </a:r>
            <a:endParaRPr lang="en-US" sz="2400" dirty="0"/>
          </a:p>
        </p:txBody>
      </p:sp>
      <p:sp>
        <p:nvSpPr>
          <p:cNvPr id="4" name="Text 1"/>
          <p:cNvSpPr txBox="1"/>
          <p:nvPr/>
        </p:nvSpPr>
        <p:spPr>
          <a:xfrm>
            <a:off x="896112" y="1536192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2525B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Cada módulo se construye cuando los clientes lo piden — por eso tu opinión hoy importa.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658368" y="643737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100" kern="0" dirty="0">
                <a:solidFill>
                  <a:srgbClr val="A1A1AA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VendéPro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10436047" y="643737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1A1AA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11 / 13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658368" y="2286000"/>
            <a:ext cx="3289706" cy="3840480"/>
          </a:xfrm>
          <a:prstGeom prst="roundRect">
            <a:avLst>
              <a:gd name="adj" fmla="val 5003"/>
            </a:avLst>
          </a:prstGeom>
          <a:solidFill>
            <a:srgbClr val="F6F6F7"/>
          </a:solidFill>
          <a:ln/>
          <a:effectLst>
            <a:outerShdw sx="100000" sy="100000" kx="0" ky="0" algn="bl" rotWithShape="0" blurRad="127000" dist="38100" dir="5400000">
              <a:srgbClr val="27272A">
                <a:alpha val="12000"/>
              </a:srgbClr>
            </a:outerShdw>
          </a:effectLst>
        </p:spPr>
      </p:sp>
      <p:pic>
        <p:nvPicPr>
          <p:cNvPr id="8" name="Image 1" descr="/tmp/claude-0/-home-claude/34a532c3-29f6-5221-b4ba-d8e6b49c9601/scratchpad/vendepro/assets/grad_num_circ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2560320"/>
            <a:ext cx="548640" cy="54864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32688" y="2560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932688" y="3310128"/>
            <a:ext cx="274106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272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Marketing con ROI real</a:t>
            </a:r>
            <a:endParaRPr lang="en-US" sz="1650" dirty="0"/>
          </a:p>
        </p:txBody>
      </p:sp>
      <p:sp>
        <p:nvSpPr>
          <p:cNvPr id="11" name="Text 7"/>
          <p:cNvSpPr txBox="1"/>
          <p:nvPr/>
        </p:nvSpPr>
        <p:spPr>
          <a:xfrm>
            <a:off x="932688" y="3913632"/>
            <a:ext cx="274106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71717A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(el que se cobra)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932688" y="4453128"/>
            <a:ext cx="82296" cy="82296"/>
          </a:xfrm>
          <a:prstGeom prst="ellipse">
            <a:avLst/>
          </a:prstGeom>
          <a:solidFill>
            <a:srgbClr val="FF007C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1133856" y="4325112"/>
            <a:ext cx="25398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72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Medir campañas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932688" y="4910328"/>
            <a:ext cx="82296" cy="82296"/>
          </a:xfrm>
          <a:prstGeom prst="ellipse">
            <a:avLst/>
          </a:prstGeom>
          <a:solidFill>
            <a:srgbClr val="FF007C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1133856" y="4782312"/>
            <a:ext cx="25398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72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Saber qué convierte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932688" y="5367528"/>
            <a:ext cx="82296" cy="82296"/>
          </a:xfrm>
          <a:prstGeom prst="ellipse">
            <a:avLst/>
          </a:prstGeom>
          <a:solidFill>
            <a:srgbClr val="FF007C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1133856" y="5239512"/>
            <a:ext cx="25398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72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Red de cierres reales</a:t>
            </a:r>
            <a:endParaRPr lang="en-US" sz="1250" dirty="0"/>
          </a:p>
        </p:txBody>
      </p:sp>
      <p:sp>
        <p:nvSpPr>
          <p:cNvPr id="18" name="Text 14"/>
          <p:cNvSpPr txBox="1"/>
          <p:nvPr/>
        </p:nvSpPr>
        <p:spPr>
          <a:xfrm>
            <a:off x="3948074" y="2542032"/>
            <a:ext cx="50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007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4450994" y="2286000"/>
            <a:ext cx="3289706" cy="3840480"/>
          </a:xfrm>
          <a:prstGeom prst="roundRect">
            <a:avLst>
              <a:gd name="adj" fmla="val 5003"/>
            </a:avLst>
          </a:prstGeom>
          <a:solidFill>
            <a:srgbClr val="F6F6F7"/>
          </a:solidFill>
          <a:ln/>
          <a:effectLst>
            <a:outerShdw sx="100000" sy="100000" kx="0" ky="0" algn="bl" rotWithShape="0" blurRad="127000" dist="38100" dir="5400000">
              <a:srgbClr val="27272A">
                <a:alpha val="12000"/>
              </a:srgbClr>
            </a:outerShdw>
          </a:effectLst>
        </p:spPr>
      </p:sp>
      <p:pic>
        <p:nvPicPr>
          <p:cNvPr id="20" name="Image 2" descr="/tmp/claude-0/-home-claude/34a532c3-29f6-5221-b4ba-d8e6b49c9601/scratchpad/vendepro/assets/grad_num_circ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5314" y="2560320"/>
            <a:ext cx="548640" cy="54864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4725314" y="2560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</a:t>
            </a:r>
            <a:endParaRPr lang="en-US" sz="2000" dirty="0"/>
          </a:p>
        </p:txBody>
      </p:sp>
      <p:sp>
        <p:nvSpPr>
          <p:cNvPr id="22" name="Text 17"/>
          <p:cNvSpPr txBox="1"/>
          <p:nvPr/>
        </p:nvSpPr>
        <p:spPr>
          <a:xfrm>
            <a:off x="4725314" y="3310128"/>
            <a:ext cx="274106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272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Ejecución</a:t>
            </a:r>
            <a:endParaRPr lang="en-US" sz="1650" dirty="0"/>
          </a:p>
        </p:txBody>
      </p:sp>
      <p:sp>
        <p:nvSpPr>
          <p:cNvPr id="23" name="Shape 18"/>
          <p:cNvSpPr/>
          <p:nvPr/>
        </p:nvSpPr>
        <p:spPr>
          <a:xfrm>
            <a:off x="4725314" y="4453128"/>
            <a:ext cx="82296" cy="82296"/>
          </a:xfrm>
          <a:prstGeom prst="ellipse">
            <a:avLst/>
          </a:prstGeom>
          <a:solidFill>
            <a:srgbClr val="FF007C"/>
          </a:solidFill>
          <a:ln/>
        </p:spPr>
      </p:sp>
      <p:sp>
        <p:nvSpPr>
          <p:cNvPr id="24" name="Text 19"/>
          <p:cNvSpPr txBox="1"/>
          <p:nvPr/>
        </p:nvSpPr>
        <p:spPr>
          <a:xfrm>
            <a:off x="4926482" y="4325112"/>
            <a:ext cx="25398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72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Landings automáticas</a:t>
            </a:r>
            <a:endParaRPr lang="en-US" sz="1250" dirty="0"/>
          </a:p>
        </p:txBody>
      </p:sp>
      <p:sp>
        <p:nvSpPr>
          <p:cNvPr id="25" name="Shape 20"/>
          <p:cNvSpPr/>
          <p:nvPr/>
        </p:nvSpPr>
        <p:spPr>
          <a:xfrm>
            <a:off x="4725314" y="4910328"/>
            <a:ext cx="82296" cy="82296"/>
          </a:xfrm>
          <a:prstGeom prst="ellipse">
            <a:avLst/>
          </a:prstGeom>
          <a:solidFill>
            <a:srgbClr val="FF007C"/>
          </a:solidFill>
          <a:ln/>
        </p:spPr>
      </p:sp>
      <p:sp>
        <p:nvSpPr>
          <p:cNvPr id="26" name="Text 21"/>
          <p:cNvSpPr txBox="1"/>
          <p:nvPr/>
        </p:nvSpPr>
        <p:spPr>
          <a:xfrm>
            <a:off x="4926482" y="4782312"/>
            <a:ext cx="25398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72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Automatizaciones de email</a:t>
            </a:r>
            <a:endParaRPr lang="en-US" sz="1250" dirty="0"/>
          </a:p>
        </p:txBody>
      </p:sp>
      <p:sp>
        <p:nvSpPr>
          <p:cNvPr id="27" name="Shape 22"/>
          <p:cNvSpPr/>
          <p:nvPr/>
        </p:nvSpPr>
        <p:spPr>
          <a:xfrm>
            <a:off x="4725314" y="5367528"/>
            <a:ext cx="82296" cy="82296"/>
          </a:xfrm>
          <a:prstGeom prst="ellipse">
            <a:avLst/>
          </a:prstGeom>
          <a:solidFill>
            <a:srgbClr val="FF007C"/>
          </a:solidFill>
          <a:ln/>
        </p:spPr>
      </p:sp>
      <p:sp>
        <p:nvSpPr>
          <p:cNvPr id="28" name="Text 23"/>
          <p:cNvSpPr txBox="1"/>
          <p:nvPr/>
        </p:nvSpPr>
        <p:spPr>
          <a:xfrm>
            <a:off x="4926482" y="5239512"/>
            <a:ext cx="25398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72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Asistente de IA</a:t>
            </a:r>
            <a:endParaRPr lang="en-US" sz="1250" dirty="0"/>
          </a:p>
        </p:txBody>
      </p:sp>
      <p:sp>
        <p:nvSpPr>
          <p:cNvPr id="29" name="Text 24"/>
          <p:cNvSpPr txBox="1"/>
          <p:nvPr/>
        </p:nvSpPr>
        <p:spPr>
          <a:xfrm>
            <a:off x="7740701" y="2542032"/>
            <a:ext cx="50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007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200" dirty="0"/>
          </a:p>
        </p:txBody>
      </p:sp>
      <p:sp>
        <p:nvSpPr>
          <p:cNvPr id="30" name="Shape 25"/>
          <p:cNvSpPr/>
          <p:nvPr/>
        </p:nvSpPr>
        <p:spPr>
          <a:xfrm>
            <a:off x="8243621" y="2286000"/>
            <a:ext cx="3289706" cy="3840480"/>
          </a:xfrm>
          <a:prstGeom prst="roundRect">
            <a:avLst>
              <a:gd name="adj" fmla="val 5003"/>
            </a:avLst>
          </a:prstGeom>
          <a:solidFill>
            <a:srgbClr val="F6F6F7"/>
          </a:solidFill>
          <a:ln/>
          <a:effectLst>
            <a:outerShdw sx="100000" sy="100000" kx="0" ky="0" algn="bl" rotWithShape="0" blurRad="127000" dist="38100" dir="5400000">
              <a:srgbClr val="27272A">
                <a:alpha val="12000"/>
              </a:srgbClr>
            </a:outerShdw>
          </a:effectLst>
        </p:spPr>
      </p:sp>
      <p:pic>
        <p:nvPicPr>
          <p:cNvPr id="31" name="Image 3" descr="/tmp/claude-0/-home-claude/34a532c3-29f6-5221-b4ba-d8e6b49c9601/scratchpad/vendepro/assets/grad_num_circ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17941" y="2560320"/>
            <a:ext cx="548640" cy="548640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8517941" y="2560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</a:t>
            </a:r>
            <a:endParaRPr lang="en-US" sz="2000" dirty="0"/>
          </a:p>
        </p:txBody>
      </p:sp>
      <p:sp>
        <p:nvSpPr>
          <p:cNvPr id="33" name="Text 27"/>
          <p:cNvSpPr txBox="1"/>
          <p:nvPr/>
        </p:nvSpPr>
        <p:spPr>
          <a:xfrm>
            <a:off x="8517941" y="3310128"/>
            <a:ext cx="274106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272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Ecosistema</a:t>
            </a:r>
            <a:endParaRPr lang="en-US" sz="1650" dirty="0"/>
          </a:p>
        </p:txBody>
      </p:sp>
      <p:sp>
        <p:nvSpPr>
          <p:cNvPr id="34" name="Text 28"/>
          <p:cNvSpPr txBox="1"/>
          <p:nvPr/>
        </p:nvSpPr>
        <p:spPr>
          <a:xfrm>
            <a:off x="8517941" y="3913632"/>
            <a:ext cx="274106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71717A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(largo plazo)</a:t>
            </a:r>
            <a:endParaRPr lang="en-US" sz="1150" dirty="0"/>
          </a:p>
        </p:txBody>
      </p:sp>
      <p:sp>
        <p:nvSpPr>
          <p:cNvPr id="35" name="Shape 29"/>
          <p:cNvSpPr/>
          <p:nvPr/>
        </p:nvSpPr>
        <p:spPr>
          <a:xfrm>
            <a:off x="8517941" y="4453128"/>
            <a:ext cx="82296" cy="82296"/>
          </a:xfrm>
          <a:prstGeom prst="ellipse">
            <a:avLst/>
          </a:prstGeom>
          <a:solidFill>
            <a:srgbClr val="FF007C"/>
          </a:solidFill>
          <a:ln/>
        </p:spPr>
      </p:sp>
      <p:sp>
        <p:nvSpPr>
          <p:cNvPr id="36" name="Text 30"/>
          <p:cNvSpPr txBox="1"/>
          <p:nvPr/>
        </p:nvSpPr>
        <p:spPr>
          <a:xfrm>
            <a:off x="8719109" y="4325112"/>
            <a:ext cx="25398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72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Marketplace de proveedores</a:t>
            </a:r>
            <a:endParaRPr lang="en-US" sz="1250" dirty="0"/>
          </a:p>
        </p:txBody>
      </p:sp>
      <p:sp>
        <p:nvSpPr>
          <p:cNvPr id="37" name="Shape 31"/>
          <p:cNvSpPr/>
          <p:nvPr/>
        </p:nvSpPr>
        <p:spPr>
          <a:xfrm>
            <a:off x="8517941" y="4910328"/>
            <a:ext cx="82296" cy="82296"/>
          </a:xfrm>
          <a:prstGeom prst="ellipse">
            <a:avLst/>
          </a:prstGeom>
          <a:solidFill>
            <a:srgbClr val="FF007C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8719109" y="4782312"/>
            <a:ext cx="25398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72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Academia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34a532c3-29f6-5221-b4ba-d8e6b49c9601/scratchpad/vendepro/assets/grad_tab_vertic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612648"/>
            <a:ext cx="82296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96112" y="512064"/>
            <a:ext cx="103692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800" b="1" dirty="0">
                <a:solidFill>
                  <a:srgbClr val="272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Sin tarjeta. Sin límite de tiempo. Setup en 2 minutos.</a:t>
            </a:r>
            <a:endParaRPr lang="en-US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658368" y="643737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100" kern="0" dirty="0">
                <a:solidFill>
                  <a:srgbClr val="A1A1AA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VendéPro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10436047" y="643737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1A1AA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12 / 13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658368" y="2331720"/>
            <a:ext cx="3411626" cy="1371600"/>
          </a:xfrm>
          <a:prstGeom prst="roundRect">
            <a:avLst>
              <a:gd name="adj" fmla="val 12000"/>
            </a:avLst>
          </a:prstGeom>
          <a:solidFill>
            <a:srgbClr val="F6F6F7"/>
          </a:solidFill>
          <a:ln/>
          <a:effectLst>
            <a:outerShdw sx="100000" sy="100000" kx="0" ky="0" algn="bl" rotWithShape="0" blurRad="127000" dist="38100" dir="5400000">
              <a:srgbClr val="27272A">
                <a:alpha val="12000"/>
              </a:srgbClr>
            </a:outerShdw>
          </a:effectLst>
        </p:spPr>
      </p:sp>
      <p:pic>
        <p:nvPicPr>
          <p:cNvPr id="7" name="Image 1" descr="/tmp/claude-0/-home-claude/34a532c3-29f6-5221-b4ba-d8e6b49c9601/scratchpad/vendepro/assets/icon_check_gra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5581" y="2624328"/>
            <a:ext cx="457200" cy="4572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41248" y="3200400"/>
            <a:ext cx="30458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72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Sin tarjeta</a:t>
            </a:r>
            <a:endParaRPr lang="en-US" sz="1500" dirty="0"/>
          </a:p>
        </p:txBody>
      </p:sp>
      <p:sp>
        <p:nvSpPr>
          <p:cNvPr id="9" name="Shape 5"/>
          <p:cNvSpPr/>
          <p:nvPr/>
        </p:nvSpPr>
        <p:spPr>
          <a:xfrm>
            <a:off x="4390034" y="2331720"/>
            <a:ext cx="3411626" cy="1371600"/>
          </a:xfrm>
          <a:prstGeom prst="roundRect">
            <a:avLst>
              <a:gd name="adj" fmla="val 12000"/>
            </a:avLst>
          </a:prstGeom>
          <a:solidFill>
            <a:srgbClr val="F6F6F7"/>
          </a:solidFill>
          <a:ln/>
          <a:effectLst>
            <a:outerShdw sx="100000" sy="100000" kx="0" ky="0" algn="bl" rotWithShape="0" blurRad="127000" dist="38100" dir="5400000">
              <a:srgbClr val="27272A">
                <a:alpha val="12000"/>
              </a:srgbClr>
            </a:outerShdw>
          </a:effectLst>
        </p:spPr>
      </p:sp>
      <p:pic>
        <p:nvPicPr>
          <p:cNvPr id="10" name="Image 2" descr="/tmp/claude-0/-home-claude/34a532c3-29f6-5221-b4ba-d8e6b49c9601/scratchpad/vendepro/assets/icon_check_gra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7248" y="2624328"/>
            <a:ext cx="457200" cy="4572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572914" y="3200400"/>
            <a:ext cx="30458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72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Sin límite de tiempo</a:t>
            </a:r>
            <a:endParaRPr lang="en-US" sz="1500" dirty="0"/>
          </a:p>
        </p:txBody>
      </p:sp>
      <p:sp>
        <p:nvSpPr>
          <p:cNvPr id="12" name="Shape 7"/>
          <p:cNvSpPr/>
          <p:nvPr/>
        </p:nvSpPr>
        <p:spPr>
          <a:xfrm>
            <a:off x="8121701" y="2331720"/>
            <a:ext cx="3411626" cy="1371600"/>
          </a:xfrm>
          <a:prstGeom prst="roundRect">
            <a:avLst>
              <a:gd name="adj" fmla="val 12000"/>
            </a:avLst>
          </a:prstGeom>
          <a:solidFill>
            <a:srgbClr val="F6F6F7"/>
          </a:solidFill>
          <a:ln/>
          <a:effectLst>
            <a:outerShdw sx="100000" sy="100000" kx="0" ky="0" algn="bl" rotWithShape="0" blurRad="127000" dist="38100" dir="5400000">
              <a:srgbClr val="27272A">
                <a:alpha val="12000"/>
              </a:srgbClr>
            </a:outerShdw>
          </a:effectLst>
        </p:spPr>
      </p:sp>
      <p:pic>
        <p:nvPicPr>
          <p:cNvPr id="13" name="Image 3" descr="/tmp/claude-0/-home-claude/34a532c3-29f6-5221-b4ba-d8e6b49c9601/scratchpad/vendepro/assets/icon_check_gra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98914" y="2624328"/>
            <a:ext cx="457200" cy="45720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8304581" y="3200400"/>
            <a:ext cx="30458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72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Setup en 2 minutos</a:t>
            </a:r>
            <a:endParaRPr lang="en-US" sz="1500" dirty="0"/>
          </a:p>
        </p:txBody>
      </p:sp>
      <p:sp>
        <p:nvSpPr>
          <p:cNvPr id="15" name="Text 9"/>
          <p:cNvSpPr txBox="1"/>
          <p:nvPr/>
        </p:nvSpPr>
        <p:spPr>
          <a:xfrm>
            <a:off x="658368" y="4160520"/>
            <a:ext cx="108749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2525B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El plan gratuito incluye las funciones principales. Probalo con tus próximos leads de esta semana.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4C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34a532c3-29f6-5221-b4ba-d8e6b49c9601/scratchpad/vendepro/assets/grad_full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tmp/claude-0/-home-claude/34a532c3-29f6-5221-b4ba-d8e6b49c9601/scratchpad/vendepro/assets/logo_vendepr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548640"/>
            <a:ext cx="1920240" cy="45665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58368" y="2286000"/>
            <a:ext cx="9601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¿Arrancamos?</a:t>
            </a:r>
            <a:endParaRPr lang="en-US" sz="4600" dirty="0"/>
          </a:p>
        </p:txBody>
      </p:sp>
      <p:sp>
        <p:nvSpPr>
          <p:cNvPr id="5" name="Shape 1"/>
          <p:cNvSpPr/>
          <p:nvPr/>
        </p:nvSpPr>
        <p:spPr>
          <a:xfrm>
            <a:off x="658368" y="3977640"/>
            <a:ext cx="3383280" cy="8686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658368" y="397764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007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Empezar gratis</a:t>
            </a:r>
            <a:endParaRPr lang="en-US" sz="1700" dirty="0"/>
          </a:p>
        </p:txBody>
      </p:sp>
      <p:sp>
        <p:nvSpPr>
          <p:cNvPr id="7" name="Text 3"/>
          <p:cNvSpPr txBox="1"/>
          <p:nvPr/>
        </p:nvSpPr>
        <p:spPr>
          <a:xfrm>
            <a:off x="658368" y="50749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FFE6F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[contacto / link]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10436047" y="643737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FE6F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13 / 13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2026-09-01T16:50:07Z</dcterms:created>
  <dcterms:modified xsi:type="dcterms:W3CDTF">2026-09-01T16:50:07Z</dcterms:modified>
</cp:coreProperties>
</file>