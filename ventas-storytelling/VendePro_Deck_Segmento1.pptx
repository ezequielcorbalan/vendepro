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blob_circle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7985455" y="2651760"/>
            <a:ext cx="5669280" cy="5669280"/>
          </a:xfrm>
          <a:prstGeom prst="rect">
            <a:avLst/>
          </a:prstGeom>
        </p:spPr>
      </p:pic>
      <p:pic>
        <p:nvPicPr>
          <p:cNvPr id="3" name="Image 1" descr="/tmp/claude-0/-home-claude/34a532c3-29f6-5221-b4ba-d8e6b49c9601/scratchpad/vendepro/assets/logo_vendepro_l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51560"/>
            <a:ext cx="2468880" cy="48869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23317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tu negocio inmobiliario, en un solo lugar</a:t>
            </a:r>
            <a:endParaRPr lang="en-US" sz="4200" dirty="0"/>
          </a:p>
        </p:txBody>
      </p:sp>
      <p:sp>
        <p:nvSpPr>
          <p:cNvPr id="5" name="Text 1"/>
          <p:cNvSpPr txBox="1"/>
          <p:nvPr/>
        </p:nvSpPr>
        <p:spPr>
          <a:xfrm>
            <a:off x="658368" y="4160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Gestioná leads, tasaciones, propiedades y reservas — sin perder ningún detalle, empezando gratis.</a:t>
            </a:r>
            <a:endParaRPr lang="en-US" sz="1900" dirty="0"/>
          </a:p>
        </p:txBody>
      </p:sp>
      <p:sp>
        <p:nvSpPr>
          <p:cNvPr id="6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01 / 12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¿Te suena esto?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 / 12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1965960"/>
            <a:ext cx="5291176" cy="1965960"/>
          </a:xfrm>
          <a:prstGeom prst="roundRect">
            <a:avLst>
              <a:gd name="adj" fmla="val 6512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7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258568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50976" y="2834640"/>
            <a:ext cx="470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lead te entra por Instagram y en dos días ya no te acordás si lo contactaste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242152" y="1965960"/>
            <a:ext cx="5291176" cy="1965960"/>
          </a:xfrm>
          <a:prstGeom prst="roundRect">
            <a:avLst>
              <a:gd name="adj" fmla="val 6512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0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60" y="225856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34760" y="2834640"/>
            <a:ext cx="470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tasación te lleva una tarde entera armarla en Canva o PowerPoint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58368" y="4224528"/>
            <a:ext cx="5291176" cy="1965960"/>
          </a:xfrm>
          <a:prstGeom prst="roundRect">
            <a:avLst>
              <a:gd name="adj" fmla="val 6512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3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17136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50976" y="5093208"/>
            <a:ext cx="470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Invertís en publicidad y no sabés si realmente te trae ventas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6242152" y="4224528"/>
            <a:ext cx="5291176" cy="1965960"/>
          </a:xfrm>
          <a:prstGeom prst="roundRect">
            <a:avLst>
              <a:gd name="adj" fmla="val 6512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6" name="Image 4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760" y="4517136"/>
            <a:ext cx="384048" cy="38404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534760" y="5093208"/>
            <a:ext cx="470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hay forma de saber, de un vistazo, cuánto está laburando cada agente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cuesta gestionar “a memoria”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 / 12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2331720"/>
            <a:ext cx="5254600" cy="3200400"/>
          </a:xfrm>
          <a:prstGeom prst="roundRect">
            <a:avLst>
              <a:gd name="adj" fmla="val 4000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7" name="Image 1" descr="/tmp/claude-0/-home-claude/34a532c3-29f6-5221-b4ba-d8e6b49c9601/scratchpad/vendepro/assets/icon_coin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697480"/>
            <a:ext cx="566928" cy="5669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3566160"/>
            <a:ext cx="452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lead que se enfría</a:t>
            </a:r>
            <a:pPr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es plata que ya invertiste en captarlo.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278728" y="2331720"/>
            <a:ext cx="5254600" cy="3200400"/>
          </a:xfrm>
          <a:prstGeom prst="roundRect">
            <a:avLst>
              <a:gd name="adj" fmla="val 4000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0" name="Image 2" descr="/tmp/claude-0/-home-claude/34a532c3-29f6-5221-b4ba-d8e6b49c9601/scratchpad/vendepro/assets/icon_clo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2697480"/>
            <a:ext cx="566928" cy="5669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644488" y="3566160"/>
            <a:ext cx="452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tasación armada de cero</a:t>
            </a:r>
            <a:pPr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es tiempo que no volvés a recuperar.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blob_circle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-2377440" y="-2194560"/>
            <a:ext cx="5120640" cy="5120640"/>
          </a:xfrm>
          <a:prstGeom prst="rect">
            <a:avLst/>
          </a:prstGeom>
        </p:spPr>
      </p:pic>
      <p:pic>
        <p:nvPicPr>
          <p:cNvPr id="3" name="Image 1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96112" y="512064"/>
            <a:ext cx="9729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VendéPro: un CRM armado por y para agentes reales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896112" y="21031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Nació de la operación diaria de Marcela Genta Operaciones Inmobiliarias, en Buenos Aires. Cada pantalla resuelve un problema real de campo — no funciones de relleno.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658368" y="4892040"/>
            <a:ext cx="5852160" cy="1051560"/>
          </a:xfrm>
          <a:prstGeom prst="roundRect">
            <a:avLst>
              <a:gd name="adj" fmla="val 13913"/>
            </a:avLst>
          </a:prstGeom>
          <a:solidFill>
            <a:srgbClr val="FFF1F7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978408" y="48920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Marcela Genta </a:t>
            </a:r>
            <a:pPr indent="0" marL="0">
              <a:buNone/>
            </a:pPr>
            <a:r>
              <a:rPr lang="en-US" sz="1350" dirty="0">
                <a:solidFill>
                  <a:srgbClr val="5252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Operaciones Inmobiliarias — Buenos Aires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9" name="Text 5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1864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Nunca más un lead que se enfría sin que lo veas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 / 12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5291176" cy="1783080"/>
          </a:xfrm>
          <a:prstGeom prst="roundRect">
            <a:avLst>
              <a:gd name="adj" fmla="val 7179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7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4871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26464" y="2404872"/>
            <a:ext cx="423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de 9 a 11 etapas, de “nuevo” a “captado”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42152" y="2148840"/>
            <a:ext cx="5291176" cy="1783080"/>
          </a:xfrm>
          <a:prstGeom prst="roundRect">
            <a:avLst>
              <a:gd name="adj" fmla="val 7179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0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60" y="24871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010248" y="2404872"/>
            <a:ext cx="423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 automática cuando un lead lleva 24hs sin contacto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58368" y="4224528"/>
            <a:ext cx="5291176" cy="1783080"/>
          </a:xfrm>
          <a:prstGeom prst="roundRect">
            <a:avLst>
              <a:gd name="adj" fmla="val 7179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3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26464" y="4480560"/>
            <a:ext cx="423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Vista kanban, arrastrar y soltar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242152" y="4224528"/>
            <a:ext cx="5291176" cy="1783080"/>
          </a:xfrm>
          <a:prstGeom prst="roundRect">
            <a:avLst>
              <a:gd name="adj" fmla="val 7179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6" name="Image 4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760" y="4562856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010248" y="4480560"/>
            <a:ext cx="423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Historial completo de cada cambio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460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producto estrella: tasaciones profesionales automáticas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06 / 12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5291176" cy="1783080"/>
          </a:xfrm>
          <a:prstGeom prst="roundRect">
            <a:avLst>
              <a:gd name="adj" fmla="val 7179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7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4871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26464" y="2404872"/>
            <a:ext cx="423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Ficha de visita con </a:t>
            </a:r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~40 campos</a:t>
            </a:r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(piso, ascensor, antigüedad, amenities, expensas)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6242152" y="2148840"/>
            <a:ext cx="5291176" cy="1783080"/>
          </a:xfrm>
          <a:prstGeom prst="roundRect">
            <a:avLst>
              <a:gd name="adj" fmla="val 7179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0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60" y="24871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010248" y="2404872"/>
            <a:ext cx="423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Comparables de mercado y análisis FODA incluidos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658368" y="4224528"/>
            <a:ext cx="5291176" cy="1783080"/>
          </a:xfrm>
          <a:prstGeom prst="roundRect">
            <a:avLst>
              <a:gd name="adj" fmla="val 7179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3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26464" y="4480560"/>
            <a:ext cx="423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generado automáticamente, listo para enviar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6242152" y="4224528"/>
            <a:ext cx="5291176" cy="1783080"/>
          </a:xfrm>
          <a:prstGeom prst="roundRect">
            <a:avLst>
              <a:gd name="adj" fmla="val 7179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6" name="Image 4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760" y="4562856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010248" y="4480560"/>
            <a:ext cx="4230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URL pública para compartir con el propietario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 captación a la escritura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07 / 12</a:t>
            </a:r>
            <a:endParaRPr lang="en-US" sz="950" dirty="0"/>
          </a:p>
        </p:txBody>
      </p:sp>
      <p:pic>
        <p:nvPicPr>
          <p:cNvPr id="6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7627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33856" y="209397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Checklist de documentación, historial de precios con motivo del cambio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658368" y="3246120"/>
            <a:ext cx="2430704" cy="777240"/>
          </a:xfrm>
          <a:prstGeom prst="roundRect">
            <a:avLst>
              <a:gd name="adj" fmla="val 50000"/>
            </a:avLst>
          </a:prstGeom>
          <a:solidFill>
            <a:srgbClr val="FFF1F7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58368" y="3246120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Reserva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043352" y="32461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473120" y="3246120"/>
            <a:ext cx="2430704" cy="777240"/>
          </a:xfrm>
          <a:prstGeom prst="roundRect">
            <a:avLst>
              <a:gd name="adj" fmla="val 50000"/>
            </a:avLst>
          </a:prstGeom>
          <a:solidFill>
            <a:srgbClr val="FFF1F7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473120" y="3246120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Boleto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858104" y="32461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287872" y="3246120"/>
            <a:ext cx="2430704" cy="777240"/>
          </a:xfrm>
          <a:prstGeom prst="roundRect">
            <a:avLst>
              <a:gd name="adj" fmla="val 50000"/>
            </a:avLst>
          </a:prstGeom>
          <a:solidFill>
            <a:srgbClr val="FFF1F7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287872" y="3246120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Escritura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672855" y="3246120"/>
            <a:ext cx="475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9102623" y="3246120"/>
            <a:ext cx="2430704" cy="777240"/>
          </a:xfrm>
          <a:prstGeom prst="roundRect">
            <a:avLst>
              <a:gd name="adj" fmla="val 50000"/>
            </a:avLst>
          </a:prstGeom>
          <a:solidFill>
            <a:srgbClr val="FFF1F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102623" y="3246120"/>
            <a:ext cx="2430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" y="4151376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todo trazado</a:t>
            </a:r>
            <a:endParaRPr lang="en-US" sz="1300" dirty="0"/>
          </a:p>
        </p:txBody>
      </p:sp>
      <p:pic>
        <p:nvPicPr>
          <p:cNvPr id="20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3659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33856" y="4654296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 automático hacia portales (Zonaprop, Argenprop)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Sabé qué campaña realmente te vende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08 / 12</a:t>
            </a:r>
            <a:endParaRPr lang="en-US" sz="950" dirty="0"/>
          </a:p>
        </p:txBody>
      </p:sp>
      <p:pic>
        <p:nvPicPr>
          <p:cNvPr id="6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6771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33856" y="2185416"/>
            <a:ext cx="6382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Envío de conversiones directo al servidor de Meta y Google </a:t>
            </a:r>
            <a:pPr algn="l" indent="0" marL="0">
              <a:lnSpc>
                <a:spcPct val="122000"/>
              </a:lnSpc>
              <a:buNone/>
            </a:pPr>
            <a:r>
              <a:rPr lang="en-US" sz="1650" i="1" dirty="0">
                <a:solidFill>
                  <a:srgbClr val="52525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(no depende del navegador del cliente)</a:t>
            </a:r>
            <a:endParaRPr lang="en-US" sz="1650" dirty="0"/>
          </a:p>
        </p:txBody>
      </p:sp>
      <p:pic>
        <p:nvPicPr>
          <p:cNvPr id="8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1071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33856" y="3328416"/>
            <a:ext cx="6382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Trazabilidad desde el clic hasta la reserva y la venta</a:t>
            </a:r>
            <a:endParaRPr lang="en-US" sz="1650" dirty="0"/>
          </a:p>
        </p:txBody>
      </p:sp>
      <p:pic>
        <p:nvPicPr>
          <p:cNvPr id="10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5371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33856" y="4471416"/>
            <a:ext cx="6382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de campañas con costo por lead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8019288" y="2148840"/>
            <a:ext cx="3514039" cy="3566160"/>
          </a:xfrm>
          <a:prstGeom prst="roundRect">
            <a:avLst>
              <a:gd name="adj" fmla="val 5204"/>
            </a:avLst>
          </a:prstGeom>
          <a:solidFill>
            <a:srgbClr val="FFF1F7"/>
          </a:solidFill>
          <a:ln/>
        </p:spPr>
      </p:sp>
      <p:pic>
        <p:nvPicPr>
          <p:cNvPr id="13" name="Image 4" descr="/tmp/claude-0/-home-claude/34a532c3-29f6-5221-b4ba-d8e6b49c9601/scratchpad/vendepro/assets/icon_bars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948" y="2651760"/>
            <a:ext cx="1188720" cy="11887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93608" y="4114800"/>
            <a:ext cx="29653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Costo por lead, medido de verdad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que ahorra trabajo manual, no que promete magia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09 / 12</a:t>
            </a:r>
            <a:endParaRPr lang="en-US" sz="950" dirty="0"/>
          </a:p>
        </p:txBody>
      </p:sp>
      <p:pic>
        <p:nvPicPr>
          <p:cNvPr id="6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1343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33856" y="223113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Extrae datos de un lead desde un mensaje de WhatsApp o una imagen</a:t>
            </a:r>
            <a:endParaRPr lang="en-US" sz="1650" dirty="0"/>
          </a:p>
        </p:txBody>
      </p:sp>
      <p:pic>
        <p:nvPicPr>
          <p:cNvPr id="8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0215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33856" y="341985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Lee screenshots de portales para armar reportes de performance automáticamente</a:t>
            </a:r>
            <a:endParaRPr lang="en-US" sz="1650" dirty="0"/>
          </a:p>
        </p:txBody>
      </p:sp>
      <p:pic>
        <p:nvPicPr>
          <p:cNvPr id="10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9087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33856" y="4608576"/>
            <a:ext cx="6382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Ayuda a editar el copy de tus landings con instrucciones en lenguaje natural</a:t>
            </a:r>
            <a:endParaRPr lang="en-US" sz="1650" dirty="0"/>
          </a:p>
        </p:txBody>
      </p:sp>
      <p:sp>
        <p:nvSpPr>
          <p:cNvPr id="12" name="Shape 6"/>
          <p:cNvSpPr/>
          <p:nvPr/>
        </p:nvSpPr>
        <p:spPr>
          <a:xfrm>
            <a:off x="8019288" y="2148840"/>
            <a:ext cx="3514039" cy="3566160"/>
          </a:xfrm>
          <a:prstGeom prst="roundRect">
            <a:avLst>
              <a:gd name="adj" fmla="val 5204"/>
            </a:avLst>
          </a:prstGeom>
          <a:solidFill>
            <a:srgbClr val="FFF1F7"/>
          </a:solidFill>
          <a:ln/>
        </p:spPr>
      </p:sp>
      <p:pic>
        <p:nvPicPr>
          <p:cNvPr id="13" name="Image 4" descr="/tmp/claude-0/-home-claude/34a532c3-29f6-5221-b4ba-d8e6b49c9601/scratchpad/vendepro/assets/icon_spark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1948" y="2651760"/>
            <a:ext cx="1188720" cy="11887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293608" y="4114800"/>
            <a:ext cx="29653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Menos carga manual,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más tiempo de venta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full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CONSTRUCCIÓN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170432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Hacia dónde vamos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993392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FFEAF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Esto todavía no está listo — te lo contamos porque nos interesa tu opinión.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58368" y="2834640"/>
            <a:ext cx="5254600" cy="1783080"/>
          </a:xfrm>
          <a:prstGeom prst="roundRect">
            <a:avLst>
              <a:gd name="adj" fmla="val 9231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8" name="Image 1" descr="/tmp/claude-0/-home-claude/34a532c3-29f6-5221-b4ba-d8e6b49c9601/scratchpad/vendepro/assets/icon_sp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127248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3703320"/>
            <a:ext cx="466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Asistente de WhatsApp con IA: </a:t>
            </a:r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responde consultas 24hs, agenda visitas, te avisa cuando hay que meterte vos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78728" y="2834640"/>
            <a:ext cx="5254600" cy="1783080"/>
          </a:xfrm>
          <a:prstGeom prst="roundRect">
            <a:avLst>
              <a:gd name="adj" fmla="val 9231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11" name="Image 2" descr="/tmp/claude-0/-home-claude/34a532c3-29f6-5221-b4ba-d8e6b49c9601/scratchpad/vendepro/assets/icon_spa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336" y="3127248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571336" y="3703320"/>
            <a:ext cx="466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 mensual automático para el propietario, con el rendimiento de su propiedad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4937760"/>
            <a:ext cx="1087495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¿Te serviría? Contanos y ayudanos a priorizarlo.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FFD9E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9E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tab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82296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96112" y="512064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tarjeta. Sin límite de tiempo. Setup en 2 minutos.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00" kern="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VendéPro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11 / 12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58368" y="2331720"/>
            <a:ext cx="3411626" cy="1371600"/>
          </a:xfrm>
          <a:prstGeom prst="roundRect">
            <a:avLst>
              <a:gd name="adj" fmla="val 12000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7" name="Image 1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81" y="2624328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" y="3200400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tarjeta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390034" y="2331720"/>
            <a:ext cx="3411626" cy="1371600"/>
          </a:xfrm>
          <a:prstGeom prst="roundRect">
            <a:avLst>
              <a:gd name="adj" fmla="val 12000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0" name="Image 2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624328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914" y="3200400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límite de tiempo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121701" y="2331720"/>
            <a:ext cx="3411626" cy="1371600"/>
          </a:xfrm>
          <a:prstGeom prst="roundRect">
            <a:avLst>
              <a:gd name="adj" fmla="val 12000"/>
            </a:avLst>
          </a:prstGeom>
          <a:solidFill>
            <a:srgbClr val="F6F6F7"/>
          </a:solidFill>
          <a:ln/>
          <a:effectLst>
            <a:outerShdw sx="100000" sy="100000" kx="0" ky="0" algn="bl" rotWithShape="0" blurRad="127000" dist="38100" dir="5400000">
              <a:srgbClr val="27272A">
                <a:alpha val="12000"/>
              </a:srgbClr>
            </a:outerShdw>
          </a:effectLst>
        </p:spPr>
      </p:sp>
      <p:pic>
        <p:nvPicPr>
          <p:cNvPr id="13" name="Image 3" descr="/tmp/claude-0/-home-claude/34a532c3-29f6-5221-b4ba-d8e6b49c9601/scratchpad/vendepro/assets/icon_check_gr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914" y="2624328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304581" y="3200400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Setup en 2 minutos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658368" y="4160520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2525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El plan gratuito incluye las funciones principales. Probalo con tus próximos leads de esta semana.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4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34a532c3-29f6-5221-b4ba-d8e6b49c9601/scratchpad/vendepro/assets/grad_full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claude/34a532c3-29f6-5221-b4ba-d8e6b49c9601/scratchpad/vendepro/assets/logo_vendepr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48640"/>
            <a:ext cx="1920240" cy="4566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58368" y="2286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¿Arrancamos?</a:t>
            </a:r>
            <a:endParaRPr lang="en-US" sz="4600" dirty="0"/>
          </a:p>
        </p:txBody>
      </p:sp>
      <p:sp>
        <p:nvSpPr>
          <p:cNvPr id="5" name="Shape 1"/>
          <p:cNvSpPr/>
          <p:nvPr/>
        </p:nvSpPr>
        <p:spPr>
          <a:xfrm>
            <a:off x="658368" y="3977640"/>
            <a:ext cx="3383280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58368" y="3977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00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Empezar gratis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E6F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[contacto / link]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0436047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E6F0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 /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2026-09-01T15:13:18Z</dcterms:created>
  <dcterms:modified xsi:type="dcterms:W3CDTF">2026-09-01T15:13:18Z</dcterms:modified>
</cp:coreProperties>
</file>