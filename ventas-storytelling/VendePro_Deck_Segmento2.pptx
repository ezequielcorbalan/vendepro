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blob_circle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985455" y="2651760"/>
            <a:ext cx="5669280" cy="5669280"/>
          </a:xfrm>
          <a:prstGeom prst="rect">
            <a:avLst/>
          </a:prstGeom>
        </p:spPr>
      </p:pic>
      <p:pic>
        <p:nvPicPr>
          <p:cNvPr id="3" name="Image 1" descr="/tmp/claude-0/-home-claude/34a532c3-29f6-5221-b4ba-d8e6b49c9601/scratchpad/vendepro/assets/logo_vendepro_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60120"/>
            <a:ext cx="2286000" cy="45249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224028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probablemente tu CRM no te está mostrando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658368" y="429768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Tasaciones profesionales automáticas, IA aplicada al día a día, y atribución real de marketing hasta la venta.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 / 11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blob_circle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2377440" y="-2194560"/>
            <a:ext cx="5120640" cy="5120640"/>
          </a:xfrm>
          <a:prstGeom prst="rect">
            <a:avLst/>
          </a:prstGeom>
        </p:spPr>
      </p:pic>
      <p:pic>
        <p:nvPicPr>
          <p:cNvPr id="3" name="Image 1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96112" y="512064"/>
            <a:ext cx="10186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venimos a reemplazar lo que ya armaste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96112" y="210312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Ya tenés proceso, ya tenés tu sistema. Esto no es sobre dejarlo — es sobre lo que probablemente no cubre hoy.</a:t>
            </a:r>
            <a:endParaRPr lang="en-US" sz="1900" dirty="0"/>
          </a:p>
        </p:txBody>
      </p:sp>
      <p:sp>
        <p:nvSpPr>
          <p:cNvPr id="6" name="Text 2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 / 11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seguir, tres preguntas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 / 11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103120"/>
            <a:ext cx="3411626" cy="3703320"/>
          </a:xfrm>
          <a:prstGeom prst="roundRect">
            <a:avLst>
              <a:gd name="adj" fmla="val 4824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7" name="Image 1" descr="/tmp/claude-0/-home-claude/34a532c3-29f6-5221-b4ba-d8e6b49c9601/scratchpad/vendepro/assets/grad_num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395728"/>
            <a:ext cx="566928" cy="5669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097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50976" y="3246120"/>
            <a:ext cx="28264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¿Tu sistema arma la tasación con comparables y te genera el PDF en minutos?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390034" y="2103120"/>
            <a:ext cx="3411626" cy="3703320"/>
          </a:xfrm>
          <a:prstGeom prst="roundRect">
            <a:avLst>
              <a:gd name="adj" fmla="val 4824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1" name="Image 2" descr="/tmp/claude-0/-home-claude/34a532c3-29f6-5221-b4ba-d8e6b49c9601/scratchpad/vendepro/assets/grad_num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642" y="2395728"/>
            <a:ext cx="566928" cy="5669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82642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82642" y="3246120"/>
            <a:ext cx="28264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¿Podés ver qué campaña de Instagram terminó realmente en una venta, no solo en un clic?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121701" y="2103120"/>
            <a:ext cx="3411626" cy="3703320"/>
          </a:xfrm>
          <a:prstGeom prst="roundRect">
            <a:avLst>
              <a:gd name="adj" fmla="val 4824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5" name="Image 3" descr="/tmp/claude-0/-home-claude/34a532c3-29f6-5221-b4ba-d8e6b49c9601/scratchpad/vendepro/assets/grad_num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09" y="2395728"/>
            <a:ext cx="566928" cy="56692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14309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8414309" y="3246120"/>
            <a:ext cx="28264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¿Alguien carga a mano los datos de cada lead que llega por WhatsApp?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Jugamos donde sumamos, no donde ya ganás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 / 11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057400"/>
            <a:ext cx="5254600" cy="3977640"/>
          </a:xfrm>
          <a:prstGeom prst="roundRect">
            <a:avLst>
              <a:gd name="adj" fmla="val 4598"/>
            </a:avLst>
          </a:prstGeom>
          <a:solidFill>
            <a:srgbClr val="F6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24128" y="2377440"/>
            <a:ext cx="452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ya tenés resuelto</a:t>
            </a:r>
            <a:endParaRPr lang="en-US" sz="1800" dirty="0"/>
          </a:p>
        </p:txBody>
      </p:sp>
      <p:pic>
        <p:nvPicPr>
          <p:cNvPr id="8" name="Image 1" descr="/tmp/claude-0/-home-claude/34a532c3-29f6-5221-b4ba-d8e6b49c9601/scratchpad/vendepro/assets/icon_check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1363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3054096"/>
            <a:ext cx="406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propiedades</a:t>
            </a:r>
            <a:endParaRPr lang="en-US" sz="1550" dirty="0"/>
          </a:p>
        </p:txBody>
      </p:sp>
      <p:pic>
        <p:nvPicPr>
          <p:cNvPr id="10" name="Image 2" descr="/tmp/claude-0/-home-claude/34a532c3-29f6-5221-b4ba-d8e6b49c9601/scratchpad/vendepro/assets/icon_check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75818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81328" y="3675888"/>
            <a:ext cx="406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Publicación en portales</a:t>
            </a:r>
            <a:endParaRPr lang="en-US" sz="1550" dirty="0"/>
          </a:p>
        </p:txBody>
      </p:sp>
      <p:pic>
        <p:nvPicPr>
          <p:cNvPr id="12" name="Image 3" descr="/tmp/claude-0/-home-claude/34a532c3-29f6-5221-b4ba-d8e6b49c9601/scratchpad/vendepro/assets/icon_check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37997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81328" y="4297680"/>
            <a:ext cx="406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red de contactos</a:t>
            </a:r>
            <a:endParaRPr lang="en-US" sz="1550" dirty="0"/>
          </a:p>
        </p:txBody>
      </p:sp>
      <p:sp>
        <p:nvSpPr>
          <p:cNvPr id="14" name="Text 8"/>
          <p:cNvSpPr txBox="1"/>
          <p:nvPr/>
        </p:nvSpPr>
        <p:spPr>
          <a:xfrm>
            <a:off x="1024128" y="5376672"/>
            <a:ext cx="452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→ no es el foco de esta propuesta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278728" y="2057400"/>
            <a:ext cx="5254600" cy="3977640"/>
          </a:xfrm>
          <a:prstGeom prst="roundRect">
            <a:avLst>
              <a:gd name="adj" fmla="val 4598"/>
            </a:avLst>
          </a:prstGeom>
          <a:solidFill>
            <a:srgbClr val="FFF1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6644488" y="2377440"/>
            <a:ext cx="452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sumamos</a:t>
            </a:r>
            <a:endParaRPr lang="en-US" sz="1800" dirty="0"/>
          </a:p>
        </p:txBody>
      </p:sp>
      <p:pic>
        <p:nvPicPr>
          <p:cNvPr id="17" name="Image 4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488" y="313639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119976" y="3054096"/>
            <a:ext cx="404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Tasaciones profesionales automáticas</a:t>
            </a:r>
            <a:endParaRPr lang="en-US" sz="1550" dirty="0"/>
          </a:p>
        </p:txBody>
      </p:sp>
      <p:pic>
        <p:nvPicPr>
          <p:cNvPr id="19" name="Image 5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488" y="391363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119976" y="3831336"/>
            <a:ext cx="404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en el uso diario</a:t>
            </a:r>
            <a:endParaRPr lang="en-US" sz="1550" dirty="0"/>
          </a:p>
        </p:txBody>
      </p:sp>
      <p:pic>
        <p:nvPicPr>
          <p:cNvPr id="21" name="Image 6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488" y="4690872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119976" y="4608576"/>
            <a:ext cx="404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Atribución de marketing server-side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una tarde en Canva, a minutos con datos reales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 / 11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194560"/>
            <a:ext cx="3411626" cy="3291840"/>
          </a:xfrm>
          <a:prstGeom prst="roundRect">
            <a:avLst>
              <a:gd name="adj" fmla="val 5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7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542032"/>
            <a:ext cx="438912" cy="438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0976" y="3200400"/>
            <a:ext cx="282641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Comparables de mercado + análisis FODA incluidos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4390034" y="2194560"/>
            <a:ext cx="3411626" cy="3291840"/>
          </a:xfrm>
          <a:prstGeom prst="roundRect">
            <a:avLst>
              <a:gd name="adj" fmla="val 5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0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642" y="2542032"/>
            <a:ext cx="438912" cy="4389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82642" y="3200400"/>
            <a:ext cx="282641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automático, URL pública para el propietario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8121701" y="2194560"/>
            <a:ext cx="3411626" cy="3291840"/>
          </a:xfrm>
          <a:prstGeom prst="roundRect">
            <a:avLst>
              <a:gd name="adj" fmla="val 5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3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09" y="2542032"/>
            <a:ext cx="438912" cy="43891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4309" y="3200400"/>
            <a:ext cx="282641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Ficha de visita estandarizada </a:t>
            </a:r>
            <a:pPr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(~40 campos)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clic a la escritura, todo trazado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06 / 11</a:t>
            </a:r>
            <a:endParaRPr lang="en-US" sz="950" dirty="0"/>
          </a:p>
        </p:txBody>
      </p:sp>
      <p:pic>
        <p:nvPicPr>
          <p:cNvPr id="6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1343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33856" y="223113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Conversiones enviadas </a:t>
            </a:r>
            <a:pPr algn="l" indent="0" marL="0">
              <a:lnSpc>
                <a:spcPct val="122000"/>
              </a:lnSpc>
              <a:buNone/>
            </a:pPr>
            <a:r>
              <a:rPr lang="en-US" sz="165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server-side</a:t>
            </a:r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Meta y Google (resiste bloqueadores)</a:t>
            </a:r>
            <a:endParaRPr lang="en-US" sz="1650" dirty="0"/>
          </a:p>
        </p:txBody>
      </p:sp>
      <p:pic>
        <p:nvPicPr>
          <p:cNvPr id="8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0215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33856" y="341985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Ves qué campaña generó una reserva o venta real, no solo un lead</a:t>
            </a:r>
            <a:endParaRPr lang="en-US" sz="1650" dirty="0"/>
          </a:p>
        </p:txBody>
      </p:sp>
      <p:pic>
        <p:nvPicPr>
          <p:cNvPr id="10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9087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33856" y="460857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de costo por lead a nivel campaña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8019288" y="2148840"/>
            <a:ext cx="3514039" cy="3566160"/>
          </a:xfrm>
          <a:prstGeom prst="roundRect">
            <a:avLst>
              <a:gd name="adj" fmla="val 5204"/>
            </a:avLst>
          </a:prstGeom>
          <a:solidFill>
            <a:srgbClr val="FFF1F7"/>
          </a:solidFill>
          <a:ln/>
        </p:spPr>
      </p:sp>
      <p:pic>
        <p:nvPicPr>
          <p:cNvPr id="13" name="Image 4" descr="/tmp/claude-0/-home-claude/34a532c3-29f6-5221-b4ba-d8e6b49c9601/scratchpad/vendepro/assets/icon_bars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948" y="2651760"/>
            <a:ext cx="1188720" cy="11887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93608" y="4114800"/>
            <a:ext cx="29653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Del clic a la venta,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sin puntos ciegos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que ahorra carga manual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07 / 11</a:t>
            </a:r>
            <a:endParaRPr lang="en-US" sz="950" dirty="0"/>
          </a:p>
        </p:txBody>
      </p:sp>
      <p:pic>
        <p:nvPicPr>
          <p:cNvPr id="6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1343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33856" y="223113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Extracción de datos de lead desde WhatsApp o imagen</a:t>
            </a:r>
            <a:endParaRPr lang="en-US" sz="1650" dirty="0"/>
          </a:p>
        </p:txBody>
      </p:sp>
      <p:pic>
        <p:nvPicPr>
          <p:cNvPr id="8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0215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33856" y="341985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Lectura de screenshots de portales para reportes automáticos</a:t>
            </a:r>
            <a:endParaRPr lang="en-US" sz="1650" dirty="0"/>
          </a:p>
        </p:txBody>
      </p:sp>
      <p:pic>
        <p:nvPicPr>
          <p:cNvPr id="10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9087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33856" y="460857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Edición de landings con instrucciones en lenguaje natural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8019288" y="2148840"/>
            <a:ext cx="3514039" cy="3566160"/>
          </a:xfrm>
          <a:prstGeom prst="roundRect">
            <a:avLst>
              <a:gd name="adj" fmla="val 5204"/>
            </a:avLst>
          </a:prstGeom>
          <a:solidFill>
            <a:srgbClr val="FFF1F7"/>
          </a:solidFill>
          <a:ln/>
        </p:spPr>
      </p:sp>
      <p:pic>
        <p:nvPicPr>
          <p:cNvPr id="13" name="Image 4" descr="/tmp/claude-0/-home-claude/34a532c3-29f6-5221-b4ba-d8e6b49c9601/scratchpad/vendepro/assets/icon_spark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948" y="2651760"/>
            <a:ext cx="1188720" cy="11887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93608" y="4114800"/>
            <a:ext cx="29653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Menos carga manual,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más tiempo de venta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Probalo en paralelo, sin tocar lo que ya tenés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08 / 11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10874959" cy="566928"/>
          </a:xfrm>
          <a:prstGeom prst="roundRect">
            <a:avLst>
              <a:gd name="adj" fmla="val 50000"/>
            </a:avLst>
          </a:prstGeom>
          <a:solidFill>
            <a:srgbClr val="F6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8408" y="2148840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sistema actual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2990088"/>
            <a:ext cx="10874959" cy="566928"/>
          </a:xfrm>
          <a:prstGeom prst="roundRect">
            <a:avLst>
              <a:gd name="adj" fmla="val 50000"/>
            </a:avLst>
          </a:prstGeom>
          <a:solidFill>
            <a:srgbClr val="FFF1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78408" y="299008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VendéPro (gratis)</a:t>
            </a:r>
            <a:endParaRPr lang="en-US" sz="1450" dirty="0"/>
          </a:p>
        </p:txBody>
      </p:sp>
      <p:pic>
        <p:nvPicPr>
          <p:cNvPr id="10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959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33856" y="3913632"/>
            <a:ext cx="103994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gratuito, sin tarjeta, sin compromiso</a:t>
            </a:r>
            <a:endParaRPr lang="en-US" sz="1600" dirty="0"/>
          </a:p>
        </p:txBody>
      </p:sp>
      <p:pic>
        <p:nvPicPr>
          <p:cNvPr id="12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177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33856" y="4535424"/>
            <a:ext cx="103994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Corré los dos sistemas juntos un tiempo</a:t>
            </a:r>
            <a:endParaRPr lang="en-US" sz="1600" dirty="0"/>
          </a:p>
        </p:txBody>
      </p:sp>
      <p:pic>
        <p:nvPicPr>
          <p:cNvPr id="14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23951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33856" y="5157216"/>
            <a:ext cx="103994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Decidís vos, con datos reales de tu propia operación, si suma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55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Hacia dónde vamos — y por qué te conviene sumarte ahora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96112" y="1371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Todavía no está listo. Te lo contamos igual porque queremos construirlo con la demanda real de inmobiliarias como la tuya.</a:t>
            </a:r>
            <a:endParaRPr lang="en-US" sz="1350" dirty="0"/>
          </a:p>
        </p:txBody>
      </p:sp>
      <p:pic>
        <p:nvPicPr>
          <p:cNvPr id="5" name="Image 1" descr="/tmp/claude-0/-home-claude/34a532c3-29f6-5221-b4ba-d8e6b49c9601/scratchpad/vendepro/assets/grad_pill_butt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9968"/>
            <a:ext cx="2011680" cy="3474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8368" y="2029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CONSTRUCCIÓN</a:t>
            </a:r>
            <a:endParaRPr lang="en-US" sz="1050" dirty="0"/>
          </a:p>
        </p:txBody>
      </p:sp>
      <p:pic>
        <p:nvPicPr>
          <p:cNvPr id="7" name="Image 2" descr="/tmp/claude-0/-home-claude/34a532c3-29f6-5221-b4ba-d8e6b49c9601/scratchpad/vendepro/assets/grad_hero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42032"/>
            <a:ext cx="6515704" cy="3246120"/>
          </a:xfrm>
          <a:prstGeom prst="rect">
            <a:avLst/>
          </a:prstGeom>
        </p:spPr>
      </p:pic>
      <p:pic>
        <p:nvPicPr>
          <p:cNvPr id="8" name="Image 3" descr="/tmp/claude-0/-home-claude/34a532c3-29f6-5221-b4ba-d8e6b49c9601/scratchpad/vendepro/assets/icon_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834640"/>
            <a:ext cx="566928" cy="566928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024128" y="3474720"/>
            <a:ext cx="5784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de cierres reales entre inmobiliarias</a:t>
            </a:r>
            <a:endParaRPr lang="en-US" sz="1900" dirty="0"/>
          </a:p>
        </p:txBody>
      </p:sp>
      <p:sp>
        <p:nvSpPr>
          <p:cNvPr id="10" name="Text 4"/>
          <p:cNvSpPr txBox="1"/>
          <p:nvPr/>
        </p:nvSpPr>
        <p:spPr>
          <a:xfrm>
            <a:off x="1024128" y="4023360"/>
            <a:ext cx="5784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E6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 publicaciones activas como tu red actual — cierres confirmados y anónimos, para tasar con lo que de verdad se vendió en la zona.</a:t>
            </a:r>
            <a:endParaRPr lang="en-US" sz="1250" dirty="0"/>
          </a:p>
        </p:txBody>
      </p:sp>
      <p:sp>
        <p:nvSpPr>
          <p:cNvPr id="11" name="Text 5"/>
          <p:cNvSpPr txBox="1"/>
          <p:nvPr/>
        </p:nvSpPr>
        <p:spPr>
          <a:xfrm>
            <a:off x="1024128" y="5221224"/>
            <a:ext cx="578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¿Aportarías tus cierres? Sumate como fundador de la red.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7539832" y="2542032"/>
            <a:ext cx="3993496" cy="3246120"/>
          </a:xfrm>
          <a:prstGeom prst="roundRect">
            <a:avLst>
              <a:gd name="adj" fmla="val 5634"/>
            </a:avLst>
          </a:prstGeom>
          <a:solidFill>
            <a:srgbClr val="FFF1F7"/>
          </a:solidFill>
          <a:ln/>
        </p:spPr>
      </p:sp>
      <p:pic>
        <p:nvPicPr>
          <p:cNvPr id="13" name="Image 4" descr="/tmp/claude-0/-home-claude/34a532c3-29f6-5221-b4ba-d8e6b49c9601/scratchpad/vendepro/assets/icon_spark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440" y="2852928"/>
            <a:ext cx="512064" cy="51206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832440" y="3547872"/>
            <a:ext cx="340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Asistente de WhatsApp con IA</a:t>
            </a:r>
            <a:endParaRPr lang="en-US" sz="1550" dirty="0"/>
          </a:p>
        </p:txBody>
      </p:sp>
      <p:sp>
        <p:nvSpPr>
          <p:cNvPr id="15" name="Text 8"/>
          <p:cNvSpPr txBox="1"/>
          <p:nvPr/>
        </p:nvSpPr>
        <p:spPr>
          <a:xfrm>
            <a:off x="7832440" y="4325112"/>
            <a:ext cx="3408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Responde consultas 24hs y agenda visitas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658368" y="591616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i="1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Hoy no sincronizamos automáticamente con Tokko Broker (sí con KiteProp), y el plan pago todavía no tiene tabla de precios pública — arrancamos siempre por el gratuito.</a:t>
            </a:r>
            <a:endParaRPr lang="en-US" sz="950" dirty="0"/>
          </a:p>
        </p:txBody>
      </p:sp>
      <p:sp>
        <p:nvSpPr>
          <p:cNvPr id="17" name="Text 10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18" name="Text 11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09 / 11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43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Así se construye VendéPro: módulo por módulo, según lo que pidan los clientes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896112" y="15361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Le contamos esto a los clientes que ya tienen un sistema porque nos interesa construir en base a lo que a ellos les falta — no lo que nosotros suponemos.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 / 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" y="2606040"/>
            <a:ext cx="3289706" cy="3520440"/>
          </a:xfrm>
          <a:prstGeom prst="roundRect">
            <a:avLst>
              <a:gd name="adj" fmla="val 5003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8" name="Image 1" descr="/tmp/claude-0/-home-claude/34a532c3-29f6-5221-b4ba-d8e6b49c9601/scratchpad/vendepro/assets/grad_num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88036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932688" y="3630168"/>
            <a:ext cx="27410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con ROI real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4233672"/>
            <a:ext cx="27410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(el que se cobra)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32688" y="47731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133856" y="46451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Atribución de campañas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32688" y="52303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133856" y="51023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Integración con tu sistema actual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32688" y="56875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133856" y="55595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de cierres reales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948074" y="2862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450994" y="2606040"/>
            <a:ext cx="3289706" cy="3520440"/>
          </a:xfrm>
          <a:prstGeom prst="roundRect">
            <a:avLst>
              <a:gd name="adj" fmla="val 5003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20" name="Image 2" descr="/tmp/claude-0/-home-claude/34a532c3-29f6-5221-b4ba-d8e6b49c9601/scratchpad/vendepro/assets/grad_num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314" y="28803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725314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4725314" y="3630168"/>
            <a:ext cx="27410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Ejecución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4725314" y="47731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926482" y="46451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Landings automáticas por propiedad/agente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725314" y="52303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926482" y="51023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Automatizaciones de email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725314" y="56875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926482" y="55595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conversacional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7740701" y="2862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8243621" y="2606040"/>
            <a:ext cx="3289706" cy="3520440"/>
          </a:xfrm>
          <a:prstGeom prst="roundRect">
            <a:avLst>
              <a:gd name="adj" fmla="val 5003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31" name="Image 3" descr="/tmp/claude-0/-home-claude/34a532c3-29f6-5221-b4ba-d8e6b49c9601/scratchpad/vendepro/assets/grad_num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941" y="2880360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517941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8517941" y="3630168"/>
            <a:ext cx="27410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</a:t>
            </a:r>
            <a:endParaRPr lang="en-US" sz="1650" dirty="0"/>
          </a:p>
        </p:txBody>
      </p:sp>
      <p:sp>
        <p:nvSpPr>
          <p:cNvPr id="34" name="Text 28"/>
          <p:cNvSpPr txBox="1"/>
          <p:nvPr/>
        </p:nvSpPr>
        <p:spPr>
          <a:xfrm>
            <a:off x="8517941" y="4233672"/>
            <a:ext cx="27410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(largo plazo)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8517941" y="47731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719109" y="46451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 de proveedores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8517941" y="5230368"/>
            <a:ext cx="82296" cy="82296"/>
          </a:xfrm>
          <a:prstGeom prst="ellipse">
            <a:avLst/>
          </a:prstGeom>
          <a:solidFill>
            <a:srgbClr val="FF007C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719109" y="5102352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full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34a532c3-29f6-5221-b4ba-d8e6b49c9601/scratchpad/vendepro/assets/logo_vendepr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48640"/>
            <a:ext cx="1920240" cy="4566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22860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Empecemos por lo que hoy te falta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658368" y="4160520"/>
            <a:ext cx="420624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58368" y="4160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Probar gratis en paralelo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E6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[contacto / link]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E6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11 / 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2026-09-01T16:50:30Z</dcterms:created>
  <dcterms:modified xsi:type="dcterms:W3CDTF">2026-09-01T16:50:30Z</dcterms:modified>
</cp:coreProperties>
</file>